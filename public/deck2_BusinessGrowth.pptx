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0" y="4572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A03828"/>
                </a:solidFill>
                <a:latin typeface="Georgia"/>
              </a:rPr>
              <a:t>BG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BUSINESS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6400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Georgia"/>
              </a:rPr>
              <a:t>Growth
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A Complete Framework for Scaling Revenue, Teams &amp;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663440"/>
            <a:ext cx="3200400" cy="5486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28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078"/>
                </a:solidFill>
                <a:latin typeface="Calibri"/>
              </a:rPr>
              <a:t>Kelvin Tony Bidi  ·  Full Stack Developer &amp; 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THE GROWTH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A17"/>
                </a:solidFill>
                <a:latin typeface="Georgia"/>
              </a:rPr>
              <a:t>Why Most Businesses Stop Growing After Year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078"/>
                </a:solidFill>
                <a:latin typeface="Calibri"/>
              </a:rPr>
              <a:t>The plateau is predictable — and preventable. Understanding the root causes is step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14884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No documented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70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60% of SMBs operate without a written growth plan — they react instead of lead.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4884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14884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04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Over-reliance on one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77063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Single-channel dependence creates fragility. Algorithm or policy changes can wipe revenue overnight.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7472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47472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Ignoring retention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96511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Acquiring a new customer costs 5–7× more than keeping one. Most brands obsess over acquisition.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7472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47472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No data culture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96511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Decisions made on gut feel rather than KPIs lead to wasted budget and missed opportunities.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80060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80060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56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Underinvesting in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22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Growth requires leverage. Founders who don't delegate stay stuck at their personal output ceiling.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80060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80060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0566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Misaligned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42239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Underpricing signals low value. Many businesses grow volume while shrinking margin.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3 Pillars of Sustainable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Every high-growth business masters all three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3703320" cy="448056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370332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20" y="20574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2057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Customer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97763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Build systematic, repeatable inbound and outbound channels that consistently bring qualified prospects at predictable cost.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703320" cy="448056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37360"/>
            <a:ext cx="370332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06440" y="20574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057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RETAIN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Customer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97763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Invest in onboarding, support, and loyalty loops. A 5% retention improvement increases profit by 25–95% (Bain &amp; Co).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737360"/>
            <a:ext cx="3703320" cy="448056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737360"/>
            <a:ext cx="370332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38359" y="2057400"/>
            <a:ext cx="777240" cy="7772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59" y="2057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1" y="30175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5042"/>
                </a:solidFill>
                <a:latin typeface="Calibri"/>
              </a:rPr>
              <a:t>EXPAND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34015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Revenue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1" y="397763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Upsell, cross-sell, and introduce premium tiers. Existing customers buy 5× more readily than new prospects.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A17"/>
                </a:solidFill>
                <a:latin typeface="Georgia"/>
              </a:rPr>
              <a:t>Data-Backed Growth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078"/>
                </a:solidFill>
                <a:latin typeface="Calibri"/>
              </a:rPr>
              <a:t>Numbers every founder and growth lead should know.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73%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of high-growth companies have a documented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828800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5–7×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58775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more expensive to acquire vs retain a customer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64408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64408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401568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2.5×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160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faster revenue growth in data-driven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64408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64408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3401568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4160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average revenue increase from effective upsell programs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837176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37176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974336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73328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of lost revenue is due to poor onboarding experiences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37176"/>
            <a:ext cx="55778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837176"/>
            <a:ext cx="201168" cy="14173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4974336"/>
            <a:ext cx="4846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5042"/>
                </a:solidFill>
                <a:latin typeface="Georgia"/>
              </a:rPr>
              <a:t>3.5×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8" y="573328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078"/>
                </a:solidFill>
                <a:latin typeface="Calibri"/>
              </a:rPr>
              <a:t>ROI advantage when sales and marketing are aligned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Pillar 1: Customer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Build a predictable pipeline — not a collection of one-off campaigns.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11338560" cy="713232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Content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90195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SEO-optimised blog, YouTube, and podcast content that attracts inbound leads for years.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42032"/>
            <a:ext cx="11338560" cy="713232"/>
          </a:xfrm>
          <a:prstGeom prst="rect">
            <a:avLst/>
          </a:prstGeom>
          <a:solidFill>
            <a:srgbClr val="2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42032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6090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Paid Advertising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06624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Meta, Google, TikTok ads with tight targeting — start small, scale what converts.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346704"/>
            <a:ext cx="11338560" cy="713232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346704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6557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Referral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51129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Incentivised word-of-mouth: your happiest customers become your cheapest salespeople.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51376"/>
            <a:ext cx="11338560" cy="713232"/>
          </a:xfrm>
          <a:prstGeom prst="rect">
            <a:avLst/>
          </a:prstGeom>
          <a:solidFill>
            <a:srgbClr val="2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51376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702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Cold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1596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Personalised email and LinkedIn sequences targeting your exact ICP — not spray-and-pray.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56048"/>
            <a:ext cx="11338560" cy="713232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956048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Strategic Partnerships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512064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Co-marketing, bundle deals, and distribution with complementary businesses.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760720"/>
            <a:ext cx="11338560" cy="713232"/>
          </a:xfrm>
          <a:prstGeom prst="rect">
            <a:avLst/>
          </a:prstGeom>
          <a:solidFill>
            <a:srgbClr val="28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760720"/>
            <a:ext cx="201168" cy="71323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7959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Community Building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925312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Build an audience around shared interests — then convert community to customers.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A17"/>
                </a:solidFill>
                <a:latin typeface="Georgia"/>
              </a:rPr>
              <a:t>Pillar 2: Retention &amp; Lifetime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078"/>
                </a:solidFill>
                <a:latin typeface="Calibri"/>
              </a:rPr>
              <a:t>The most profitable growth lever most businesses completely ignore.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5303520" cy="34747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LTV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LTV =
Avg Order Value
× Purchase Frequency
× Customer Lifespan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7E8D1"/>
                </a:solidFill>
                <a:latin typeface="Calibri"/>
              </a:rPr>
              <a:t>Doubling LTV without increasing acquisition costs doubles your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91640"/>
            <a:ext cx="5715000" cy="777240"/>
          </a:xfrm>
          <a:prstGeom prst="rect">
            <a:avLst/>
          </a:prstGeom>
          <a:solidFill>
            <a:srgbClr val="E8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691640"/>
            <a:ext cx="201168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013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7"/>
                </a:solidFill>
                <a:latin typeface="Calibri"/>
              </a:rPr>
              <a:t>Onboarding 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First 30 days define lifetime retention — invest here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87752"/>
            <a:ext cx="5715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587752"/>
            <a:ext cx="201168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974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7"/>
                </a:solidFill>
                <a:latin typeface="Calibri"/>
              </a:rPr>
              <a:t>Loyalty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44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Points, tiers, or VIP access keeps customers buying repeatedly.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483864"/>
            <a:ext cx="5715000" cy="777240"/>
          </a:xfrm>
          <a:prstGeom prst="rect">
            <a:avLst/>
          </a:prstGeom>
          <a:solidFill>
            <a:srgbClr val="E8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483864"/>
            <a:ext cx="201168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93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7"/>
                </a:solidFill>
                <a:latin typeface="Calibri"/>
              </a:rPr>
              <a:t>Proactive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410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Reach out before customers complain — it builds extraordinary trust.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379976"/>
            <a:ext cx="5715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379976"/>
            <a:ext cx="201168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897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7"/>
                </a:solidFill>
                <a:latin typeface="Calibri"/>
              </a:rPr>
              <a:t>Regular Check-ins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371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Quarterly business reviews (B2B) or re-engagement flows (B2C).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276088"/>
            <a:ext cx="5715000" cy="777240"/>
          </a:xfrm>
          <a:prstGeom prst="rect">
            <a:avLst/>
          </a:prstGeom>
          <a:solidFill>
            <a:srgbClr val="E8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5276088"/>
            <a:ext cx="201168" cy="7772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858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1A17"/>
                </a:solidFill>
                <a:latin typeface="Calibri"/>
              </a:rPr>
              <a:t>Community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733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Exclusive groups make customers feel they belong to something bigger.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Pillar 3: Revenue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The fastest path to profit growth — without spending a dollar on new acquisition.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9339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Upselling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957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Offer a premium version at point of purchase or post-onboarding when value is proven.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993391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Cross-Selling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3957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Recommend complementary products based on purchase history and behaviour patterns.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20040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20040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456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8587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Package products or services into higher-value bundles that increase perceived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20040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20040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4564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Annual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85876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Offer discounted annual billing — you get cash upfront, customer gets locked-in savings.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66344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66344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4919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Premium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532180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Introduce a VIP/enterprise tier with exclusive benefits that justify 2–5× price premium.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663440"/>
            <a:ext cx="5577840" cy="132588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663440"/>
            <a:ext cx="5577840" cy="146304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919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Usage-Based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321807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Charge on value delivered — grows automatically as the customer grows.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C1A17"/>
                </a:solidFill>
                <a:latin typeface="Georgia"/>
              </a:rPr>
              <a:t>The Modern Marketing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078"/>
                </a:solidFill>
                <a:latin typeface="Calibri"/>
              </a:rPr>
              <a:t>Today's buyer journey is non-linear — your funnel must work across multiple touchpoints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5195" y="1691640"/>
            <a:ext cx="11338560" cy="8229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7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5515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Stranger discovers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28716" y="17830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Content, social media, SEO, PR, paid ads — cast the widest net.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3876" y="2468880"/>
            <a:ext cx="9601200" cy="822960"/>
          </a:xfrm>
          <a:prstGeom prst="rect">
            <a:avLst/>
          </a:prstGeom>
          <a:solidFill>
            <a:srgbClr val="C04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8468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4196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They engage with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7396" y="25603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Newsletter sign-up, webinar, lead magnet — value exchange begins.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8276" y="3246120"/>
            <a:ext cx="7772400" cy="822960"/>
          </a:xfrm>
          <a:prstGeom prst="rect">
            <a:avLst/>
          </a:prstGeom>
          <a:solidFill>
            <a:srgbClr val="C84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2868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8596" y="3337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They evaluate options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1796" y="333756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Case studies, demos, testimonials, comparison pages, free trials.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2676" y="4023360"/>
            <a:ext cx="5943600" cy="822960"/>
          </a:xfrm>
          <a:prstGeom prst="rect">
            <a:avLst/>
          </a:prstGeom>
          <a:solidFill>
            <a:srgbClr val="D041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7268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2996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Ready to buy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6196" y="4114800"/>
            <a:ext cx="274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Retargeting ads, abandoned cart emails, personal outreach, urgency triggers.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37076" y="4800600"/>
            <a:ext cx="4114800" cy="822960"/>
          </a:xfrm>
          <a:prstGeom prst="rect">
            <a:avLst/>
          </a:prstGeom>
          <a:solidFill>
            <a:srgbClr val="D83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1668" y="4892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PURCHASE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7396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Customer converts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0596" y="4892040"/>
            <a:ext cx="-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Frictionless checkout, payment plan options, strong guarantee.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1476" y="5577840"/>
            <a:ext cx="2286000" cy="822960"/>
          </a:xfrm>
          <a:prstGeom prst="rect">
            <a:avLst/>
          </a:prstGeom>
          <a:solidFill>
            <a:srgbClr val="E03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16068" y="56692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LOYALTY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1796" y="56692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Repeat &amp; refer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54996" y="5669279"/>
            <a:ext cx="-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DDD5"/>
                </a:solidFill>
                <a:latin typeface="Calibri"/>
              </a:rPr>
              <a:t>Onboarding, support excellence, loyalty programme, referral incentive.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KPIs That Actually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Stop measuring vanity metrics. Track the numbers that directly link to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5042"/>
                </a:solidFill>
                <a:latin typeface="Calibri"/>
              </a:rPr>
              <a:t>ACQUISITION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084831"/>
            <a:ext cx="5577840" cy="3657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221284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221284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441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CAC (Customer Acquisition Cost)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834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Total spend ÷ new customers acquired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53872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53872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767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Lead-to-Close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% of leads that become paying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6460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86460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50932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Payback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Months to recover CAC from revenue generated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5042"/>
                </a:solidFill>
                <a:latin typeface="Calibri"/>
              </a:rPr>
              <a:t>RETENTION METRICS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084831"/>
            <a:ext cx="5577840" cy="3657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21284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21284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44144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Churn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2834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% customers lost per period — reduce this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53872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53872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767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NPS (Net Promoter Score)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160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Likelihood to recommend — proxy for loyalty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864608"/>
            <a:ext cx="5577840" cy="118872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864608"/>
            <a:ext cx="5577840" cy="13716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509320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CLTV:CAC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4864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Should be 3:1 or higher for sustainable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C1A17"/>
                </a:solidFill>
                <a:latin typeface="Georgia"/>
              </a:rPr>
              <a:t>Scaling Your Team Without Breaking 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078"/>
                </a:solidFill>
                <a:latin typeface="Calibri"/>
              </a:rPr>
              <a:t>The right hires at the right time unlock exponential output. The wrong ones can halt momentum.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57784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Phase 1: Solo Founder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13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0–$100K ARR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919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633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Do everything — sell, build, support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4495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Document every process as you 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1071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649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Identify the first hire that multiplies you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5778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557784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947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Phase 2: Core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13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$100K–$1M ARR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67919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2633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Hire for your biggest bottleneck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04495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999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Marketing + Sales + Operations are priority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341071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3364991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Build a culture document — don't leave it to chance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77639"/>
            <a:ext cx="55778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977639"/>
            <a:ext cx="557784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33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Phase 3: Department Leads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994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$1M–$10M ARR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6519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Promote internally before hiring externally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3095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5285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Introduce OKRs and quarterly planning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69671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5650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Invest in management training — technical skill ≠ leadership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977639"/>
            <a:ext cx="5577840" cy="20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3977639"/>
            <a:ext cx="5577840" cy="16459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233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1A17"/>
                </a:solidFill>
                <a:latin typeface="Calibri"/>
              </a:rPr>
              <a:t>Phase 4: Scale-Up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5994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$10M+ ARR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496519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49194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Hire a COO to free the CEO for 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33095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93408" y="52852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Build specialised teams within departments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696712"/>
            <a:ext cx="128016" cy="128016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5650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078"/>
                </a:solidFill>
                <a:latin typeface="Calibri"/>
              </a:rPr>
              <a:t>Culture maintenance becomes a full-time function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Your 90-Day Growth Sprint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8D1"/>
                </a:solidFill>
                <a:latin typeface="Calibri"/>
              </a:rPr>
              <a:t>A structured, actionable plan to implement the three growth pillars.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810512"/>
            <a:ext cx="658368" cy="65836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468880"/>
            <a:ext cx="109728" cy="91440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175564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Days 1–30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084831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810512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61888" y="17373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Audit current revenue, churn, and CAC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194560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212140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Define ICP and document the ideal customer journey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578608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61888" y="250545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Set 3 core KPIs with baseline measurements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962656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288950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Identify your biggest retention leak and plug it</a:t>
            </a:r>
          </a:p>
        </p:txBody>
      </p:sp>
      <p:sp>
        <p:nvSpPr>
          <p:cNvPr id="18" name="Oval 17"/>
          <p:cNvSpPr/>
          <p:nvPr/>
        </p:nvSpPr>
        <p:spPr>
          <a:xfrm>
            <a:off x="384048" y="3383280"/>
            <a:ext cx="658368" cy="65836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8328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041648"/>
            <a:ext cx="109728" cy="914400"/>
          </a:xfrm>
          <a:prstGeom prst="rect">
            <a:avLst/>
          </a:prstGeom>
          <a:solidFill>
            <a:srgbClr val="332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61872" y="332841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Days 31–60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6576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ACCELERATION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383280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1888" y="331012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Launch 2 new acquisition channels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3767328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1888" y="369417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Introduce upsell sequence into the post-purchase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0" y="4151376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407822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Start a referral programme with clear incentives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4535424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61888" y="44622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Deploy a win-back campaign for churned customers</a:t>
            </a:r>
          </a:p>
        </p:txBody>
      </p:sp>
      <p:sp>
        <p:nvSpPr>
          <p:cNvPr id="31" name="Oval 30"/>
          <p:cNvSpPr/>
          <p:nvPr/>
        </p:nvSpPr>
        <p:spPr>
          <a:xfrm>
            <a:off x="384048" y="4956048"/>
            <a:ext cx="658368" cy="65836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495604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901183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5042"/>
                </a:solidFill>
                <a:latin typeface="Calibri"/>
              </a:rPr>
              <a:t>Days 61–90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523036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OPTIMISATION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0" y="4956048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61888" y="4882896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Review all KPIs against targets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5340096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5266944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Double budget into the channel with best CAC:LTV ratio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0" y="5724144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1888" y="565099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Cut or restructure what is underperforming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6108192"/>
            <a:ext cx="128016" cy="12801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61888" y="603504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Plan Q2 with documented strategy and assigned owners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807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05840"/>
            <a:ext cx="9445752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005840"/>
            <a:ext cx="9445752" cy="201168"/>
          </a:xfrm>
          <a:prstGeom prst="rect">
            <a:avLst/>
          </a:prstGeom>
          <a:solidFill>
            <a:srgbClr val="1C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89888"/>
            <a:ext cx="9445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C1A17"/>
                </a:solidFill>
                <a:latin typeface="Calibri"/>
              </a:rPr>
              <a:t>READY TO SCALE YOUR BUSINESS?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74519"/>
            <a:ext cx="94457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C1A17"/>
                </a:solidFill>
                <a:latin typeface="Georgia"/>
              </a:rPr>
              <a:t>Let's Build Your
Growth Strategy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9445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078"/>
                </a:solidFill>
                <a:latin typeface="Calibri"/>
              </a:rPr>
              <a:t>I offer a complimentary 45-minute strategy session — no pitch, just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4315968"/>
            <a:ext cx="4114800" cy="65836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4425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bidikelvin282@gmail.com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12 / 12  ·  Business Growth Strategies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6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0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