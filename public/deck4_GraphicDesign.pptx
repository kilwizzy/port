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309360"/>
            <a:ext cx="12188952" cy="548640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0" y="182880"/>
            <a:ext cx="5486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0" b="1" i="0">
                <a:solidFill>
                  <a:srgbClr val="18102A"/>
                </a:solidFill>
                <a:latin typeface="Georgia"/>
              </a:rPr>
              <a:t>GD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0058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6B35D3"/>
                </a:solidFill>
                <a:latin typeface="Calibri"/>
              </a:rPr>
              <a:t>GRAPHIC DESIGN &amp; VISUAL BRANDING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508760"/>
            <a:ext cx="91440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0" b="1" i="0">
                <a:solidFill>
                  <a:srgbClr val="FFFFFF"/>
                </a:solidFill>
                <a:latin typeface="Georgia"/>
              </a:rPr>
              <a:t>Design That
Converts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3383280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1">
                <a:solidFill>
                  <a:srgbClr val="6B35D3"/>
                </a:solidFill>
                <a:latin typeface="Georgia"/>
              </a:rPr>
              <a:t>&amp; Captivates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2519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AADD"/>
                </a:solidFill>
                <a:latin typeface="Calibri"/>
              </a:rPr>
              <a:t>Brand Identity · Marketing Collateral · Social Assets · Print Design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4800600"/>
            <a:ext cx="4114800" cy="54864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4956048"/>
            <a:ext cx="8229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Kelvin Tony Bidi  ·  Full Stack Developer &amp; VA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6699"/>
                </a:solidFill>
                <a:latin typeface="Calibri"/>
              </a:rPr>
              <a:t>01 / 12</a:t>
            </a:r>
          </a:p>
        </p:txBody>
      </p:sp>
    </p:spTree>
  </p:cSld>
  <p:clrMapOvr>
    <a:masterClrMapping/>
  </p:clrMapOvr>
  <p:transition spd="slow" advTm="10000" advAuto="1">
    <p:fade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4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700"/>
                                  <p:tgtEl>
                                    <p:spTgt spid="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par>
                          <p:cTn id="1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000"/>
                      </p:stCondLst>
                      <p:childTnLst>
                        <p:par>
                          <p:cTn id="22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1300"/>
                      </p:stCondLst>
                      <p:childTnLst>
                        <p:par>
                          <p:cTn id="26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7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8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0A0F"/>
                </a:solidFill>
                <a:latin typeface="Georgia"/>
              </a:rPr>
              <a:t>Why Professional Design Is a Business Investment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76699"/>
                </a:solidFill>
                <a:latin typeface="Calibri"/>
              </a:rPr>
              <a:t>Design is not decoration. It is the first impression, the trust signal, and the conversion driver.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2743200" cy="164592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6B35D3"/>
                </a:solidFill>
                <a:latin typeface="Georgia"/>
              </a:rPr>
              <a:t>94%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743200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First impressions are design-related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69164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55848" y="1691640"/>
            <a:ext cx="2743200" cy="164592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93008" y="19202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6B35D3"/>
                </a:solidFill>
                <a:latin typeface="Georgia"/>
              </a:rPr>
              <a:t>75%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3008" y="2743200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Judge brand credibility by visual identity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216" y="169164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0216" y="1691640"/>
            <a:ext cx="2743200" cy="164592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37376" y="19202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6B35D3"/>
                </a:solidFill>
                <a:latin typeface="Georgia"/>
              </a:rPr>
              <a:t>3×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37376" y="2743200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Revenue for companies with consistent branding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4584" y="1691640"/>
            <a:ext cx="2743200" cy="20116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44584" y="1691640"/>
            <a:ext cx="2743200" cy="164592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81744" y="1920240"/>
            <a:ext cx="2468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6B35D3"/>
                </a:solidFill>
                <a:latin typeface="Georgia"/>
              </a:rPr>
              <a:t>$2.5T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81744" y="2743200"/>
            <a:ext cx="246888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Value of design-led companies vs S&amp;P 500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3886200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35D3"/>
                </a:solidFill>
                <a:latin typeface="Calibri"/>
              </a:rPr>
              <a:t>THE DESIGN ROI CASE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11480" y="4315968"/>
            <a:ext cx="164592" cy="164592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279392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Consistent brand presentation across all platforms increases revenue by up to 23% (Forbes).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11480" y="4791456"/>
            <a:ext cx="164592" cy="164592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9808" y="4754879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Companies that invest in design outperform the S&amp;P 500 by 219% over a 10-year period (McKinsey Design Index).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" y="5266944"/>
            <a:ext cx="164592" cy="164592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5230368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Customers form a visual opinion of a brand within 0.05 seconds — before reading a single word.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5742431"/>
            <a:ext cx="164592" cy="164592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5705856"/>
            <a:ext cx="1106424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0A0A0F"/>
                </a:solidFill>
                <a:latin typeface="Calibri"/>
              </a:rPr>
              <a:t>72% of consumers say packaging design influences purchase decisions at the point of sale.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6699"/>
                </a:solidFill>
                <a:latin typeface="Calibri"/>
              </a:rPr>
              <a:t>02 / 12</a:t>
            </a:r>
          </a:p>
        </p:txBody>
      </p:sp>
    </p:spTree>
  </p:cSld>
  <p:clrMapOvr>
    <a:masterClrMapping/>
  </p:clrMapOvr>
  <p:transition spd="slow" advTm="10000" advAuto="1">
    <p:push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Brand Identity: The Complete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AADD"/>
                </a:solidFill>
                <a:latin typeface="Calibri"/>
              </a:rPr>
              <a:t>A brand identity is more than a logo — it is a full visual language that communicates your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37360"/>
            <a:ext cx="5577840" cy="1024128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737360"/>
            <a:ext cx="201168" cy="102412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470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Logo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2402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AADD"/>
                </a:solidFill>
                <a:latin typeface="Calibri"/>
              </a:rPr>
              <a:t>Primary, secondary, icon variant, monochrome — designed to work across all sizes and media.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737360"/>
            <a:ext cx="5577840" cy="1024128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737360"/>
            <a:ext cx="201168" cy="102412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84708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Colour Palette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240280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AADD"/>
                </a:solidFill>
                <a:latin typeface="Calibri"/>
              </a:rPr>
              <a:t>3–5 brand colours with hex, RGB, CMYK, and Pantone codes. Primary, secondary, and neutrals.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907791"/>
            <a:ext cx="5577840" cy="1024128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907791"/>
            <a:ext cx="201168" cy="102412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30175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Typography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410711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AADD"/>
                </a:solidFill>
                <a:latin typeface="Calibri"/>
              </a:rPr>
              <a:t>Heading + body font pairing with hierarchy rules: size, weight, line spacing, usage guides.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907791"/>
            <a:ext cx="5577840" cy="1024128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907791"/>
            <a:ext cx="201168" cy="102412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301752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Brand Voice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3410711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AADD"/>
                </a:solidFill>
                <a:latin typeface="Calibri"/>
              </a:rPr>
              <a:t>Tone of voice guide: how the brand sounds in copy — formal vs casual, bold vs subtle.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078224"/>
            <a:ext cx="5577840" cy="1024128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078224"/>
            <a:ext cx="201168" cy="102412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41879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Iconography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58114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AADD"/>
                </a:solidFill>
                <a:latin typeface="Calibri"/>
              </a:rPr>
              <a:t>Consistent icon set that matches the logo style — rounded, sharp, outlined, or filled.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078224"/>
            <a:ext cx="5577840" cy="1024128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078224"/>
            <a:ext cx="201168" cy="102412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418795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Photography Style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4581144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AADD"/>
                </a:solidFill>
                <a:latin typeface="Calibri"/>
              </a:rPr>
              <a:t>Direction for photo selection: lifestyle vs product, moody vs bright, filtered vs natural.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248656"/>
            <a:ext cx="5577840" cy="1024128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5248656"/>
            <a:ext cx="201168" cy="102412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3583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Brand Patterns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75157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AADD"/>
                </a:solidFill>
                <a:latin typeface="Calibri"/>
              </a:rPr>
              <a:t>Repeatable graphic elements, textures, or motifs that make materials instantly recognisable.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248656"/>
            <a:ext cx="5577840" cy="1024128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5248656"/>
            <a:ext cx="201168" cy="102412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5358384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Stationery Suite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6832" y="5751576"/>
            <a:ext cx="50292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AADD"/>
                </a:solidFill>
                <a:latin typeface="Calibri"/>
              </a:rPr>
              <a:t>Business card, letterhead, email signature — all consistent with the visual identity.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6699"/>
                </a:solidFill>
                <a:latin typeface="Calibri"/>
              </a:rPr>
              <a:t>03 / 12</a:t>
            </a:r>
          </a:p>
        </p:txBody>
      </p:sp>
    </p:spTree>
  </p:cSld>
  <p:clrMapOvr>
    <a:masterClrMapping/>
  </p:clrMapOvr>
  <p:transition spd="slow" advTm="10000" advAuto="1">
    <p:cover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F"/>
                </a:solidFill>
                <a:latin typeface="Georgia"/>
              </a:rPr>
              <a:t>Colour Psychology in Brand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76699"/>
                </a:solidFill>
                <a:latin typeface="Calibri"/>
              </a:rPr>
              <a:t>Colour accounts for 85% of the reason people choose one brand over another.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2743200" cy="868680"/>
          </a:xfrm>
          <a:prstGeom prst="rect">
            <a:avLst/>
          </a:prstGeom>
          <a:solidFill>
            <a:srgbClr val="2B5B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9476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Blue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56032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6974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Trust, reliability, professionalism. Tech, finance, healthcare brands.</a:t>
            </a:r>
          </a:p>
        </p:txBody>
      </p:sp>
      <p:sp>
        <p:nvSpPr>
          <p:cNvPr id="9" name="Rectangle 8"/>
          <p:cNvSpPr/>
          <p:nvPr/>
        </p:nvSpPr>
        <p:spPr>
          <a:xfrm>
            <a:off x="3355848" y="1691640"/>
            <a:ext cx="2743200" cy="868680"/>
          </a:xfrm>
          <a:prstGeom prst="rect">
            <a:avLst/>
          </a:prstGeom>
          <a:solidFill>
            <a:srgbClr val="E044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93008" y="19476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Red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55848" y="256032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93008" y="26974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Energy, urgency, passion. Food, retail, entertainment brands.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0216" y="1691640"/>
            <a:ext cx="2743200" cy="86868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37376" y="19476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Yellow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0216" y="256032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7376" y="26974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Optimism, warmth, creativity. Youth, food, lifestyle brands.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244584" y="1691640"/>
            <a:ext cx="2743200" cy="86868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381744" y="194767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Green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244584" y="256032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81744" y="269748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Growth, health, nature. Wellness, finance, eco-conscious brands.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931920"/>
            <a:ext cx="2743200" cy="86868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41879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Purple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80060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9377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Luxury, creativity, wisdom. Beauty, premium, tech brands.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355848" y="3931920"/>
            <a:ext cx="2743200" cy="868680"/>
          </a:xfrm>
          <a:prstGeom prst="rect">
            <a:avLst/>
          </a:prstGeom>
          <a:solidFill>
            <a:srgbClr val="F57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493008" y="41879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Orange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355848" y="480060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493008" y="49377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Enthusiasm, fun, confidence. Sports, food, entertainment.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0216" y="3931920"/>
            <a:ext cx="2743200" cy="86868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37376" y="41879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Black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00216" y="480060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37376" y="49377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Sophistication, exclusivity, power. Luxury, fashion, tech.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244584" y="3931920"/>
            <a:ext cx="2743200" cy="868680"/>
          </a:xfrm>
          <a:prstGeom prst="rect">
            <a:avLst/>
          </a:prstGeom>
          <a:solidFill>
            <a:srgbClr val="8888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381744" y="4187952"/>
            <a:ext cx="2468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FFFFF"/>
                </a:solidFill>
                <a:latin typeface="Georgia"/>
              </a:rPr>
              <a:t>Grey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44584" y="4800600"/>
            <a:ext cx="2743200" cy="1234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81744" y="493776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Balance, neutrality, calm. Corporate, tech, editorial brands.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6699"/>
                </a:solidFill>
                <a:latin typeface="Calibri"/>
              </a:rPr>
              <a:t>04 / 12</a:t>
            </a:r>
          </a:p>
        </p:txBody>
      </p:sp>
    </p:spTree>
  </p:cSld>
  <p:clrMapOvr>
    <a:masterClrMapping/>
  </p:clrMapOvr>
  <p:transition spd="slow" advTm="10000" advAuto="1">
    <p:fade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Typography: The Voice of Design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AADD"/>
                </a:solidFill>
                <a:latin typeface="Calibri"/>
              </a:rPr>
              <a:t>Typography is 95% of design. The right typeface communicates before the words are read.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737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35D3"/>
                </a:solidFill>
                <a:latin typeface="Calibri"/>
              </a:rPr>
              <a:t>HEADING FONT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91840" y="17373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35D3"/>
                </a:solidFill>
                <a:latin typeface="Calibri"/>
              </a:rPr>
              <a:t>BODY FONT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173736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35D3"/>
                </a:solidFill>
                <a:latin typeface="Calibri"/>
              </a:rPr>
              <a:t>PERSONALITY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173736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35D3"/>
                </a:solidFill>
                <a:latin typeface="Calibri"/>
              </a:rPr>
              <a:t>BEST FOR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057400"/>
            <a:ext cx="11338560" cy="36576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11480" y="2148840"/>
            <a:ext cx="11338560" cy="987552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267712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Georgia"/>
              </a:rPr>
              <a:t>Georgia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395728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AADD"/>
                </a:solidFill>
                <a:latin typeface="Calibri"/>
              </a:rPr>
              <a:t>Calibri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2331720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35D3"/>
                </a:solidFill>
                <a:latin typeface="Calibri"/>
              </a:rPr>
              <a:t>Editorial authority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2331720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AADD"/>
                </a:solidFill>
                <a:latin typeface="Calibri"/>
              </a:rPr>
              <a:t>Trusted, classic, journalistic. Financial reports, consulting brands.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27832"/>
            <a:ext cx="11338560" cy="987552"/>
          </a:xfrm>
          <a:prstGeom prst="rect">
            <a:avLst/>
          </a:prstGeom>
          <a:solidFill>
            <a:srgbClr val="1E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46704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Arial Black"/>
              </a:rPr>
              <a:t>Arial Black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474720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AADD"/>
                </a:solidFill>
                <a:latin typeface="Calibri Light"/>
              </a:rPr>
              <a:t>Calibri Light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410711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35D3"/>
                </a:solidFill>
                <a:latin typeface="Calibri"/>
              </a:rPr>
              <a:t>Bold &amp; minimal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3410711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AADD"/>
                </a:solidFill>
                <a:latin typeface="Calibri"/>
              </a:rPr>
              <a:t>Strong headers, clean body text. Tech startups, SaaS products.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4306824"/>
            <a:ext cx="11338560" cy="987552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425696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Trebuchet MS"/>
              </a:rPr>
              <a:t>Trebuchet MS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553712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AADD"/>
                </a:solidFill>
                <a:latin typeface="Calibri"/>
              </a:rPr>
              <a:t>Calibri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0" y="4489704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35D3"/>
                </a:solidFill>
                <a:latin typeface="Calibri"/>
              </a:rPr>
              <a:t>Friendly professional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4489704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AADD"/>
                </a:solidFill>
                <a:latin typeface="Calibri"/>
              </a:rPr>
              <a:t>Approachable authority. Healthcare, education, coaching brands.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5385816"/>
            <a:ext cx="11338560" cy="987552"/>
          </a:xfrm>
          <a:prstGeom prst="rect">
            <a:avLst/>
          </a:prstGeom>
          <a:solidFill>
            <a:srgbClr val="1E1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5504688"/>
            <a:ext cx="27432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Palatino"/>
              </a:rPr>
              <a:t>Palatino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5632704"/>
            <a:ext cx="2103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BAADD"/>
                </a:solidFill>
                <a:latin typeface="Garamond"/>
              </a:rPr>
              <a:t>Garamond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0" y="5568696"/>
            <a:ext cx="21945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35D3"/>
                </a:solidFill>
                <a:latin typeface="Calibri"/>
              </a:rPr>
              <a:t>Timeless luxury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0" y="5568696"/>
            <a:ext cx="3657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BAADD"/>
                </a:solidFill>
                <a:latin typeface="Calibri"/>
              </a:rPr>
              <a:t>Refined elegance. Fashion, architecture, premium hospitality.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446520"/>
            <a:ext cx="11155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35D3"/>
                </a:solidFill>
                <a:latin typeface="Calibri"/>
              </a:rPr>
              <a:t>Rule: Never use more than 2 typefaces in a design. Consistency creates professionalism.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6699"/>
                </a:solidFill>
                <a:latin typeface="Calibri"/>
              </a:rPr>
              <a:t>05 / 12</a:t>
            </a:r>
          </a:p>
        </p:txBody>
      </p:sp>
    </p:spTree>
  </p:cSld>
  <p:clrMapOvr>
    <a:masterClrMapping/>
  </p:clrMapOvr>
  <p:transition spd="slow" advTm="10000" advAuto="1">
    <p:wipe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0A0F"/>
                </a:solidFill>
                <a:latin typeface="Georgia"/>
              </a:rPr>
              <a:t>Social Media Graphics: Specs &amp; Best Practices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76699"/>
                </a:solidFill>
                <a:latin typeface="Calibri"/>
              </a:rPr>
              <a:t>Every platform has unique dimensions. Designing to spec prevents cropping, distortion, and lost impact.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3429000" cy="38404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746504"/>
            <a:ext cx="33375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Asset 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3931920" y="1691640"/>
            <a:ext cx="3291840" cy="38404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023359" y="1746504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Dimensions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1691640"/>
            <a:ext cx="4800600" cy="38404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746504"/>
            <a:ext cx="4709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Key Design Note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148840"/>
            <a:ext cx="3429000" cy="502920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02920" y="221284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0A0F"/>
                </a:solidFill>
                <a:latin typeface="Calibri"/>
              </a:rPr>
              <a:t>Instagram Feed Post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31920" y="2148840"/>
            <a:ext cx="3291840" cy="502920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59" y="221284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1080×1080px (1:1) or 1080×1350px (4:5)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315200" y="2148840"/>
            <a:ext cx="4800600" cy="502920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06640" y="221284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Keep key content within 80% safe zone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715768"/>
            <a:ext cx="3429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277977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0A0F"/>
                </a:solidFill>
                <a:latin typeface="Calibri"/>
              </a:rPr>
              <a:t>Instagram Reels Cover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2715768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023359" y="2779776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1080×1920px (9:16)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0" y="2715768"/>
            <a:ext cx="4800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77977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Text must clear top 250px and bottom 400px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3282696"/>
            <a:ext cx="3429000" cy="502920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34670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0A0F"/>
                </a:solidFill>
                <a:latin typeface="Calibri"/>
              </a:rPr>
              <a:t>Instagram Story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931920" y="3282696"/>
            <a:ext cx="3291840" cy="502920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023359" y="334670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1080×1920px (9:16)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315200" y="3282696"/>
            <a:ext cx="4800600" cy="502920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34670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Interactive elements in centre third only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3849624"/>
            <a:ext cx="3429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3913631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0A0F"/>
                </a:solidFill>
                <a:latin typeface="Calibri"/>
              </a:rPr>
              <a:t>Facebook Cover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931920" y="3849624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023359" y="3913631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820×312px (desktop)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315200" y="3849624"/>
            <a:ext cx="4800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3913631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Avoid text in left 200px (hidden on mobile)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11480" y="4416552"/>
            <a:ext cx="3429000" cy="502920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448056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0A0F"/>
                </a:solidFill>
                <a:latin typeface="Calibri"/>
              </a:rPr>
              <a:t>LinkedIn Banner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931920" y="4416552"/>
            <a:ext cx="3291840" cy="502920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023359" y="4480560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1584×396px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315200" y="4416552"/>
            <a:ext cx="4800600" cy="502920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406640" y="4480560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Logo and key message centre-safe zone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11480" y="4983480"/>
            <a:ext cx="3429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02920" y="5047488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0A0F"/>
                </a:solidFill>
                <a:latin typeface="Calibri"/>
              </a:rPr>
              <a:t>Twitter/X Header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931920" y="4983480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23359" y="5047488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1500×500px</a:t>
            </a:r>
          </a:p>
        </p:txBody>
      </p:sp>
      <p:sp>
        <p:nvSpPr>
          <p:cNvPr id="45" name="Rectangle 44"/>
          <p:cNvSpPr/>
          <p:nvPr/>
        </p:nvSpPr>
        <p:spPr>
          <a:xfrm>
            <a:off x="7315200" y="4983480"/>
            <a:ext cx="4800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06640" y="5047488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Profile photo overlaps bottom-left corner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11480" y="5550408"/>
            <a:ext cx="3429000" cy="502920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02920" y="5614416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0A0F"/>
                </a:solidFill>
                <a:latin typeface="Calibri"/>
              </a:rPr>
              <a:t>YouTube Thumbnail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31920" y="5550408"/>
            <a:ext cx="3291840" cy="502920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023359" y="5614416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1280×720px (16:9)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315200" y="5550408"/>
            <a:ext cx="4800600" cy="502920"/>
          </a:xfrm>
          <a:prstGeom prst="rect">
            <a:avLst/>
          </a:prstGeom>
          <a:solidFill>
            <a:srgbClr val="EE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406640" y="5614416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Large faces + bold text = 2× more clicks</a:t>
            </a:r>
          </a:p>
        </p:txBody>
      </p:sp>
      <p:sp>
        <p:nvSpPr>
          <p:cNvPr id="53" name="Rectangle 52"/>
          <p:cNvSpPr/>
          <p:nvPr/>
        </p:nvSpPr>
        <p:spPr>
          <a:xfrm>
            <a:off x="411480" y="6117336"/>
            <a:ext cx="34290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02920" y="6181344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A0A0F"/>
                </a:solidFill>
                <a:latin typeface="Calibri"/>
              </a:rPr>
              <a:t>Pinterest Pin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931920" y="6117336"/>
            <a:ext cx="329184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023359" y="6181344"/>
            <a:ext cx="3154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1000×1500px (2:3)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315200" y="6117336"/>
            <a:ext cx="4800600" cy="502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406640" y="6181344"/>
            <a:ext cx="46634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Vertical always — never horizontal on Pinterest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6699"/>
                </a:solidFill>
                <a:latin typeface="Calibri"/>
              </a:rPr>
              <a:t>06 / 12</a:t>
            </a:r>
          </a:p>
        </p:txBody>
      </p:sp>
    </p:spTree>
  </p:cSld>
  <p:clrMapOvr>
    <a:masterClrMapping/>
  </p:clrMapOvr>
  <p:transition spd="slow" advTm="10000" advAuto="1">
    <p:push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The 7 Core Design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AADD"/>
                </a:solidFill>
                <a:latin typeface="Calibri"/>
              </a:rPr>
              <a:t>Master these and every design decision becomes intentional, not accidental.</a:t>
            </a:r>
          </a:p>
        </p:txBody>
      </p:sp>
      <p:sp>
        <p:nvSpPr>
          <p:cNvPr id="5" name="Oval 4"/>
          <p:cNvSpPr/>
          <p:nvPr/>
        </p:nvSpPr>
        <p:spPr>
          <a:xfrm>
            <a:off x="384048" y="1810512"/>
            <a:ext cx="512064" cy="512064"/>
          </a:xfrm>
          <a:prstGeom prst="ellipse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84048" y="1810512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" y="1737360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35D3"/>
                </a:solidFill>
                <a:latin typeface="Calibri"/>
              </a:rPr>
              <a:t>Hierarchy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94760" y="179222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AADD"/>
                </a:solidFill>
                <a:latin typeface="Calibri"/>
              </a:rPr>
              <a:t>Guide the eye from most to least important. Size, weight, and colour establish reading order.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322576"/>
            <a:ext cx="109728" cy="146304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84048" y="2505456"/>
            <a:ext cx="512064" cy="512064"/>
          </a:xfrm>
          <a:prstGeom prst="ellipse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505456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432303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35D3"/>
                </a:solidFill>
                <a:latin typeface="Calibri"/>
              </a:rPr>
              <a:t>Contrast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248716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AADD"/>
                </a:solidFill>
                <a:latin typeface="Calibri"/>
              </a:rPr>
              <a:t>Opposite elements create visual interest. High contrast = readability. Low contrast = elegance.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3017520"/>
            <a:ext cx="109728" cy="146304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84048" y="3200400"/>
            <a:ext cx="512064" cy="512064"/>
          </a:xfrm>
          <a:prstGeom prst="ellipse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84048" y="3200400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127248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35D3"/>
                </a:solidFill>
                <a:latin typeface="Calibri"/>
              </a:rPr>
              <a:t>Alignment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3182112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AADD"/>
                </a:solidFill>
                <a:latin typeface="Calibri"/>
              </a:rPr>
              <a:t>Every element should align with another. Invisible grid = professional feel.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3712463"/>
            <a:ext cx="109728" cy="146304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384048" y="3895344"/>
            <a:ext cx="512064" cy="512064"/>
          </a:xfrm>
          <a:prstGeom prst="ellipse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84048" y="3895344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3822191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35D3"/>
                </a:solidFill>
                <a:latin typeface="Calibri"/>
              </a:rPr>
              <a:t>Proximity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94760" y="3877056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AADD"/>
                </a:solidFill>
                <a:latin typeface="Calibri"/>
              </a:rPr>
              <a:t>Related items should be grouped. White space between groups signals a new idea.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4407408"/>
            <a:ext cx="109728" cy="146304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84048" y="4590288"/>
            <a:ext cx="512064" cy="512064"/>
          </a:xfrm>
          <a:prstGeom prst="ellipse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4590288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517136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35D3"/>
                </a:solidFill>
                <a:latin typeface="Calibri"/>
              </a:rPr>
              <a:t>Repetition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794760" y="4572000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AADD"/>
                </a:solidFill>
                <a:latin typeface="Calibri"/>
              </a:rPr>
              <a:t>Repeat visual elements to create cohesion. Fonts, colours, icons — consistency builds brand.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5102352"/>
            <a:ext cx="109728" cy="146304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384048" y="5285231"/>
            <a:ext cx="512064" cy="512064"/>
          </a:xfrm>
          <a:prstGeom prst="ellipse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4048" y="5285231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5212079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35D3"/>
                </a:solidFill>
                <a:latin typeface="Calibri"/>
              </a:rPr>
              <a:t>Balance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794760" y="5266944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AADD"/>
                </a:solidFill>
                <a:latin typeface="Calibri"/>
              </a:rPr>
              <a:t>Symmetrical = formal. Asymmetrical = dynamic. Both can work — choose with intention.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5797296"/>
            <a:ext cx="109728" cy="146304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384048" y="5980176"/>
            <a:ext cx="512064" cy="512064"/>
          </a:xfrm>
          <a:prstGeom prst="ellipse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84048" y="5980176"/>
            <a:ext cx="512064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Georgia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" y="5907024"/>
            <a:ext cx="2560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6B35D3"/>
                </a:solidFill>
                <a:latin typeface="Calibri"/>
              </a:rPr>
              <a:t>White Space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794760" y="5961888"/>
            <a:ext cx="8046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BBAADD"/>
                </a:solidFill>
                <a:latin typeface="Calibri"/>
              </a:rPr>
              <a:t>Negative space is not empty space. It is breathing room that makes everything else bolder.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6699"/>
                </a:solidFill>
                <a:latin typeface="Calibri"/>
              </a:rPr>
              <a:t>07 / 12</a:t>
            </a:r>
          </a:p>
        </p:txBody>
      </p:sp>
    </p:spTree>
  </p:cSld>
  <p:clrMapOvr>
    <a:masterClrMapping/>
  </p:clrMapOvr>
  <p:transition spd="slow" advTm="10000" advAuto="1">
    <p:cover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0A0A0F"/>
                </a:solidFill>
                <a:latin typeface="Georgia"/>
              </a:rPr>
              <a:t>Marketing Collateral: Full-Suite Capability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76699"/>
                </a:solidFill>
                <a:latin typeface="Calibri"/>
              </a:rPr>
              <a:t>From digital assets to print-ready files — every format your brand needs, delivered professionally.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370332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3703320" cy="20116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659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0A0F"/>
                </a:solidFill>
                <a:latin typeface="Georgia"/>
              </a:rPr>
              <a:t>Digital</a:t>
            </a:r>
          </a:p>
        </p:txBody>
      </p:sp>
      <p:sp>
        <p:nvSpPr>
          <p:cNvPr id="8" name="Rectangle 7"/>
          <p:cNvSpPr/>
          <p:nvPr/>
        </p:nvSpPr>
        <p:spPr>
          <a:xfrm>
            <a:off x="576072" y="2487168"/>
            <a:ext cx="137160" cy="13716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441448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Social media graphics (all platforms)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3145536"/>
            <a:ext cx="137160" cy="13716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3099815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Email headers and newsletter templates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3803904"/>
            <a:ext cx="137160" cy="13716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3758183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Website banners and hero images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4462272"/>
            <a:ext cx="137160" cy="13716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0392" y="4416552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Digital ad creatives (all sizes)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5120640"/>
            <a:ext cx="137160" cy="13716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50749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Presentation decks (PowerPoint &amp; PDF)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691640"/>
            <a:ext cx="370332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343400" y="1691640"/>
            <a:ext cx="3703320" cy="20116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07992" y="19659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0A0F"/>
                </a:solidFill>
                <a:latin typeface="Georgia"/>
              </a:rPr>
              <a:t>Print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07992" y="2487168"/>
            <a:ext cx="137160" cy="13716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82312" y="2441448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Business cards &amp; stationery suite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07992" y="3145536"/>
            <a:ext cx="137160" cy="13716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82312" y="3099815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Flyers, brochures, and tri-folds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07992" y="3803904"/>
            <a:ext cx="137160" cy="13716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82312" y="3758183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Posters and event banners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07992" y="4462272"/>
            <a:ext cx="137160" cy="13716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82312" y="4416552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Packaging design and labels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07992" y="5120640"/>
            <a:ext cx="137160" cy="13716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82312" y="50749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Catalogue and menu design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8275319" y="1691640"/>
            <a:ext cx="3703320" cy="4663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8275319" y="1691640"/>
            <a:ext cx="3703320" cy="20116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439911" y="1965960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A0A0F"/>
                </a:solidFill>
                <a:latin typeface="Georgia"/>
              </a:rPr>
              <a:t>Brand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39911" y="2487168"/>
            <a:ext cx="137160" cy="13716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14232" y="2441448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Logo design and variations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9911" y="3145536"/>
            <a:ext cx="137160" cy="13716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714232" y="3099815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Brand guidelines document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439911" y="3803904"/>
            <a:ext cx="137160" cy="13716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714232" y="3758183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Brand pattern and texture library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39911" y="4462272"/>
            <a:ext cx="137160" cy="13716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14232" y="4416552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Brand photography art direction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39911" y="5120640"/>
            <a:ext cx="137160" cy="13716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714232" y="5074920"/>
            <a:ext cx="3063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776699"/>
                </a:solidFill>
                <a:latin typeface="Calibri"/>
              </a:rPr>
              <a:t>Style guides for team use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6699"/>
                </a:solidFill>
                <a:latin typeface="Calibri"/>
              </a:rPr>
              <a:t>08 / 12</a:t>
            </a:r>
          </a:p>
        </p:txBody>
      </p:sp>
    </p:spTree>
  </p:cSld>
  <p:clrMapOvr>
    <a:masterClrMapping/>
  </p:clrMapOvr>
  <p:transition spd="slow" advTm="10000" advAuto="1">
    <p:fade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My Design Process: From Brief to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AADD"/>
                </a:solidFill>
                <a:latin typeface="Calibri"/>
              </a:rPr>
              <a:t>Every project follows a structured process to ensure the outcome matches the objective.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5577840" cy="1371600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5577840" cy="146304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202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35D3"/>
                </a:solidFill>
                <a:latin typeface="Georgia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80160" y="194767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Discovery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240487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Deep-dive brief to understand goals, audience, competitors, and brand personality. Define success metrics.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5577840" cy="1371600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09360" y="1691640"/>
            <a:ext cx="5577840" cy="146304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73952" y="192024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35D3"/>
                </a:solidFill>
                <a:latin typeface="Georgia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178040" y="194767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73952" y="240487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Competitor analysis, trend research, mood board creation, and audience insight gathering.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200400"/>
            <a:ext cx="5577840" cy="1371600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11480" y="3200400"/>
            <a:ext cx="5577840" cy="146304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76072" y="34290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35D3"/>
                </a:solidFill>
                <a:latin typeface="Georgia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80160" y="345643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Concept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6072" y="391363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Two or three distinct creative directions presented as rough concepts for client direction.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09360" y="3200400"/>
            <a:ext cx="5577840" cy="1371600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309360" y="3200400"/>
            <a:ext cx="5577840" cy="146304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42900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35D3"/>
                </a:solidFill>
                <a:latin typeface="Georgia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78040" y="345643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73952" y="391363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Selected concept refined into full-quality designs with all platform variants.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4709160"/>
            <a:ext cx="5577840" cy="1371600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11480" y="4709160"/>
            <a:ext cx="5577840" cy="146304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" y="49377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35D3"/>
                </a:solidFill>
                <a:latin typeface="Georgia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80160" y="496519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Review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76072" y="542239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Structured feedback rounds — typically two revision cycles included in every project.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4709160"/>
            <a:ext cx="5577840" cy="1371600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4709160"/>
            <a:ext cx="5577840" cy="146304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73952" y="4937760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B35D3"/>
                </a:solidFill>
                <a:latin typeface="Georgia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965192"/>
            <a:ext cx="4389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Calibri"/>
              </a:rPr>
              <a:t>Delivery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73952" y="5422392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Final files in all required formats: AI, EPS, SVG, PNG, PDF, and platform-ready exports.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6699"/>
                </a:solidFill>
                <a:latin typeface="Calibri"/>
              </a:rPr>
              <a:t>09 / 12</a:t>
            </a:r>
          </a:p>
        </p:txBody>
      </p:sp>
    </p:spTree>
  </p:cSld>
  <p:clrMapOvr>
    <a:masterClrMapping/>
  </p:clrMapOvr>
  <p:transition spd="slow" advTm="10000" advAuto="1">
    <p:wipe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5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0A0A0F"/>
                </a:solidFill>
                <a:latin typeface="Georgia"/>
              </a:rPr>
              <a:t>Design Tools &amp; Software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776699"/>
                </a:solidFill>
                <a:latin typeface="Calibri"/>
              </a:rPr>
              <a:t>Professional-grade tools for every design discipline — from brand identity to motion graphics.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55778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201168" cy="102412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18013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F"/>
                </a:solidFill>
                <a:latin typeface="Calibri"/>
              </a:rPr>
              <a:t>Adobe Illustrator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2203704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Vector graphics, logo design, brand identity. Industry-standard for print and digital.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91640"/>
            <a:ext cx="55778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91640"/>
            <a:ext cx="201168" cy="102412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56832" y="1801368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F"/>
                </a:solidFill>
                <a:latin typeface="Calibri"/>
              </a:rPr>
              <a:t>Adobe Photoshop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56832" y="2203704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Photo editing, digital manipulation, raster graphics. Pixel-perfect at any resolution.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862072"/>
            <a:ext cx="55778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11480" y="2862072"/>
            <a:ext cx="201168" cy="102412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9718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F"/>
                </a:solidFill>
                <a:latin typeface="Calibri"/>
              </a:rPr>
              <a:t>Adobe InDesign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3374136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Multi-page layouts, brochures, catalogues, magazines. Master pages and CMYK control.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2862072"/>
            <a:ext cx="55778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2862072"/>
            <a:ext cx="201168" cy="102412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56832" y="2971800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F"/>
                </a:solidFill>
                <a:latin typeface="Calibri"/>
              </a:rPr>
              <a:t>Canva Pro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56832" y="3374136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Rapid social media production, client collaboration, brand kit management.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4032504"/>
            <a:ext cx="55778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11480" y="4032504"/>
            <a:ext cx="201168" cy="102412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8952" y="414223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F"/>
                </a:solidFill>
                <a:latin typeface="Calibri"/>
              </a:rPr>
              <a:t>Figma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2" y="4544568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UI/UX mockups, interactive prototypes, design systems. Web and app interfaces.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032504"/>
            <a:ext cx="55778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09360" y="4032504"/>
            <a:ext cx="201168" cy="102412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56832" y="4142232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F"/>
                </a:solidFill>
                <a:latin typeface="Calibri"/>
              </a:rPr>
              <a:t>Adobe Premiere Pro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56832" y="4544568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Video editing, motion graphics, social video production and colour grading.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" y="5202936"/>
            <a:ext cx="55778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1480" y="5202936"/>
            <a:ext cx="201168" cy="102412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3126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F"/>
                </a:solidFill>
                <a:latin typeface="Calibri"/>
              </a:rPr>
              <a:t>After Effects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58952" y="5715000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Motion graphics, animated logos, kinetic typography for social and broadcast.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5202936"/>
            <a:ext cx="5577840" cy="102412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5202936"/>
            <a:ext cx="201168" cy="102412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56832" y="5312664"/>
            <a:ext cx="3200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A0A0F"/>
                </a:solidFill>
                <a:latin typeface="Calibri"/>
              </a:rPr>
              <a:t>Adobe XD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56832" y="5715000"/>
            <a:ext cx="50292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776699"/>
                </a:solidFill>
                <a:latin typeface="Calibri"/>
              </a:rPr>
              <a:t>User experience design, wireframing, and clickable prototype presentations.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6699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  <p:transition spd="slow" advTm="10000" advAuto="1">
    <p:push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384048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Georgia"/>
              </a:rPr>
              <a:t>Design Services &amp; Project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07899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BBAADD"/>
                </a:solidFill>
                <a:latin typeface="Calibri"/>
              </a:rPr>
              <a:t>Every project is quoted based on scope, complexity, and turnaround. These are starting-point guides.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691640"/>
            <a:ext cx="3703320" cy="4846320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11480" y="1691640"/>
            <a:ext cx="3703320" cy="20116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76072" y="1938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35D3"/>
                </a:solidFill>
                <a:latin typeface="Calibri"/>
              </a:rPr>
              <a:t>WEEKLY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76072" y="22128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Social Media Pack</a:t>
            </a:r>
          </a:p>
        </p:txBody>
      </p:sp>
      <p:sp>
        <p:nvSpPr>
          <p:cNvPr id="9" name="Rectangle 8"/>
          <p:cNvSpPr/>
          <p:nvPr/>
        </p:nvSpPr>
        <p:spPr>
          <a:xfrm>
            <a:off x="576072" y="2852928"/>
            <a:ext cx="3337560" cy="3657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76072" y="2999232"/>
            <a:ext cx="128016" cy="12801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953512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10–20 branded social graphics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3566160"/>
            <a:ext cx="128016" cy="12801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520440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All platform sizes included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4133087"/>
            <a:ext cx="128016" cy="12801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087368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Editable Canva templates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4700016"/>
            <a:ext cx="128016" cy="12801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654296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48-hour turnaround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76072" y="5266944"/>
            <a:ext cx="128016" cy="12801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5221224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2 revision rounds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43400" y="1691640"/>
            <a:ext cx="3703320" cy="4846320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343400" y="1691640"/>
            <a:ext cx="3703320" cy="20116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07992" y="1938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35D3"/>
                </a:solidFill>
                <a:latin typeface="Calibri"/>
              </a:rPr>
              <a:t>PROJECT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07992" y="22128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Brand Identity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07992" y="2852928"/>
            <a:ext cx="3337560" cy="3657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507992" y="2999232"/>
            <a:ext cx="128016" cy="12801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754880" y="2953512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Logo system (3 variants)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07992" y="3566160"/>
            <a:ext cx="128016" cy="12801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54880" y="3520440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Colour palette &amp; typography guide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07992" y="4133087"/>
            <a:ext cx="128016" cy="12801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54880" y="4087368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Business card &amp; letterhead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07992" y="4700016"/>
            <a:ext cx="128016" cy="12801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54880" y="4654296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Brand guidelines PDF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07992" y="5266944"/>
            <a:ext cx="128016" cy="12801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54880" y="5221224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All source files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275319" y="1691640"/>
            <a:ext cx="3703320" cy="4846320"/>
          </a:xfrm>
          <a:prstGeom prst="rect">
            <a:avLst/>
          </a:prstGeom>
          <a:solidFill>
            <a:srgbClr val="2A1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8275319" y="1691640"/>
            <a:ext cx="3703320" cy="20116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39911" y="1938528"/>
            <a:ext cx="3383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B35D3"/>
                </a:solidFill>
                <a:latin typeface="Calibri"/>
              </a:rPr>
              <a:t>PROJECT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39911" y="2212848"/>
            <a:ext cx="33832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Georgia"/>
              </a:rPr>
              <a:t>Marketing Collateral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439911" y="2852928"/>
            <a:ext cx="3337560" cy="3657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439911" y="2999232"/>
            <a:ext cx="128016" cy="12801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86799" y="2953512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Flyer, poster, or brochure design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8439911" y="3566160"/>
            <a:ext cx="128016" cy="12801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686799" y="3520440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Up to 8 pages for print or digital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39911" y="4133087"/>
            <a:ext cx="128016" cy="12801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86799" y="4087368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Print-ready CMYK PDF output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39911" y="4700016"/>
            <a:ext cx="128016" cy="12801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86799" y="4654296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Social-adapted version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439911" y="5266944"/>
            <a:ext cx="128016" cy="128016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686799" y="5221224"/>
            <a:ext cx="30632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BAADD"/>
                </a:solidFill>
                <a:latin typeface="Calibri"/>
              </a:rPr>
              <a:t>3 revision rounds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473952"/>
            <a:ext cx="11155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B35D3"/>
                </a:solidFill>
                <a:latin typeface="Calibri"/>
              </a:rPr>
              <a:t>All projects: written brief required · Turnaround discussed per project · Source files always delivered.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515600" y="6400800"/>
            <a:ext cx="1828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776699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  <p:transition spd="slow" advTm="10000" advAuto="1">
    <p:cover dir="l"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2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600"/>
                                  <p:tgtEl>
                                    <p:spTgt spid="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805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265676" y="914400"/>
            <a:ext cx="3657600" cy="3657600"/>
          </a:xfrm>
          <a:prstGeom prst="ellipse">
            <a:avLst/>
          </a:prstGeom>
          <a:solidFill>
            <a:srgbClr val="150A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4722876" y="1371600"/>
            <a:ext cx="2743200" cy="2743200"/>
          </a:xfrm>
          <a:prstGeom prst="ellipse">
            <a:avLst/>
          </a:prstGeom>
          <a:solidFill>
            <a:srgbClr val="1E1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80076" y="1828800"/>
            <a:ext cx="1828800" cy="1828800"/>
          </a:xfrm>
          <a:prstGeom prst="ellipse">
            <a:avLst/>
          </a:prstGeom>
          <a:solidFill>
            <a:srgbClr val="281A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776699"/>
                </a:solidFill>
                <a:latin typeface="Calibri"/>
              </a:rPr>
              <a:t>LET'S CREATE SOMETHING EXCEPTIONAL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74519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Georgia"/>
              </a:rPr>
              <a:t>Your Brand Deserves
Design That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033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BBAADD"/>
                </a:solidFill>
                <a:latin typeface="Calibri"/>
              </a:rPr>
              <a:t>From logo to launch — I design brand identities that convert browsers into buyers.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023360" y="4370832"/>
            <a:ext cx="4114800" cy="658368"/>
          </a:xfrm>
          <a:prstGeom prst="rect">
            <a:avLst/>
          </a:prstGeom>
          <a:solidFill>
            <a:srgbClr val="6B35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60" y="44805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GET A FREE DESIGN QUOTE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193792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BBAADD"/>
                </a:solidFill>
                <a:latin typeface="Calibri"/>
              </a:rPr>
              <a:t>bidikelvin282@gmail.com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776699"/>
                </a:solidFill>
                <a:latin typeface="Calibri"/>
              </a:rPr>
              <a:t>github.com/Codex723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73952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76699"/>
                </a:solidFill>
                <a:latin typeface="Calibri"/>
              </a:rPr>
              <a:t>12 / 12  ·  Graphic Design &amp; Visual Branding  ·  Kelvin Tony Bidi</a:t>
            </a:r>
          </a:p>
        </p:txBody>
      </p:sp>
    </p:spTree>
  </p:cSld>
  <p:clrMapOvr>
    <a:masterClrMapping/>
  </p:clrMapOvr>
  <p:transition spd="slow" advTm="10000" advAuto="1">
    <p:fade/>
  </p:transition>
  <p:timing>
    <p:tnLst>
      <p:par>
        <p:cTn id="11" dur="indefinite" restart="whenNotActive" nodeType="tmRoot">
          <p:childTnLst>
            <p:seq concurrent="1" nextAc="seek">
              <p:cTn id="12" dur="indefinite" nodeType="mainSeq">
                <p:childTnLst>
                  <p:par>
                    <p:cTn id="13" fill="hold">
                      <p:stCondLst>
                        <p:cond delay="300"/>
                      </p:stCondLst>
                      <p:childTnLst>
                        <p:par>
                          <p:cTn id="14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5" dur="1" fill="hold"/>
                                  <p:tgtEl>
                                    <p:spTgt spid="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6" dur="700"/>
                                  <p:tgtEl>
                                    <p:spTgt spid="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700"/>
                      </p:stCondLst>
                      <p:childTnLst>
                        <p:par>
                          <p:cTn id="18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9" dur="1" fill="hold"/>
                                  <p:tgtEl>
                                    <p:spTgt spid="7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0" dur="700"/>
                                  <p:tgtEl>
                                    <p:spTgt spid="7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1100"/>
                      </p:stCondLst>
                      <p:childTnLst>
                        <p:par>
                          <p:cTn id="22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3" dur="1" fill="hold"/>
                                  <p:tgtEl>
                                    <p:spTgt spid="8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4" dur="700"/>
                                  <p:tgtEl>
                                    <p:spTgt spid="8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Click" delay="0">
                  <p:tn/>
                </p:cond>
              </p:prevCondLst>
            </p:seq>
          </p:childTnLst>
        </p:cTn>
      </p:par>
    </p:tnLst>
    <p:bldLst/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