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082838"/>
                </a:solidFill>
                <a:latin typeface="Georgia"/>
              </a:rPr>
              <a:t>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Georgia"/>
              </a:rPr>
              <a:t>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A8B8"/>
                </a:solidFill>
                <a:latin typeface="Calibri"/>
              </a:rPr>
              <a:t>8 Modules · Strategy, Content, Analytics, Ads &amp;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01568"/>
            <a:ext cx="365760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3566160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0273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01 Strategy</a:t>
            </a:r>
          </a:p>
        </p:txBody>
      </p:sp>
      <p:sp>
        <p:nvSpPr>
          <p:cNvPr id="11" name="Oval 10"/>
          <p:cNvSpPr/>
          <p:nvPr/>
        </p:nvSpPr>
        <p:spPr>
          <a:xfrm>
            <a:off x="2532888" y="3566160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360273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02 Platforms</a:t>
            </a:r>
          </a:p>
        </p:txBody>
      </p:sp>
      <p:sp>
        <p:nvSpPr>
          <p:cNvPr id="13" name="Oval 12"/>
          <p:cNvSpPr/>
          <p:nvPr/>
        </p:nvSpPr>
        <p:spPr>
          <a:xfrm>
            <a:off x="4562856" y="3566160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0056" y="360273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03 Content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3566160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0024" y="360273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04 Scheduling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041648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7822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05 Analytics</a:t>
            </a:r>
          </a:p>
        </p:txBody>
      </p:sp>
      <p:sp>
        <p:nvSpPr>
          <p:cNvPr id="19" name="Oval 18"/>
          <p:cNvSpPr/>
          <p:nvPr/>
        </p:nvSpPr>
        <p:spPr>
          <a:xfrm>
            <a:off x="2532888" y="4041648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8" y="407822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06 Paid Ads</a:t>
            </a:r>
          </a:p>
        </p:txBody>
      </p:sp>
      <p:sp>
        <p:nvSpPr>
          <p:cNvPr id="21" name="Oval 20"/>
          <p:cNvSpPr/>
          <p:nvPr/>
        </p:nvSpPr>
        <p:spPr>
          <a:xfrm>
            <a:off x="4562856" y="4041648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0056" y="407822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07 Community</a:t>
            </a:r>
          </a:p>
        </p:txBody>
      </p:sp>
      <p:sp>
        <p:nvSpPr>
          <p:cNvPr id="23" name="Oval 22"/>
          <p:cNvSpPr/>
          <p:nvPr/>
        </p:nvSpPr>
        <p:spPr>
          <a:xfrm>
            <a:off x="6592824" y="4041648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407822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08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51828"/>
                </a:solidFill>
                <a:latin typeface="Georgia"/>
              </a:rPr>
              <a:t>Why Social Media Is Non-Negotiable in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080"/>
                </a:solidFill>
                <a:latin typeface="Calibri"/>
              </a:rPr>
              <a:t>Social is no longer optional. It is where your customers discover, evaluate, and buy.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74320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A896"/>
                </a:solidFill>
                <a:latin typeface="Georgia"/>
              </a:rPr>
              <a:t>4.9B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Global social media 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6916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274320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A896"/>
                </a:solidFill>
                <a:latin typeface="Georgia"/>
              </a:rPr>
              <a:t>73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8163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Average daily time on social per person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6916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691640"/>
            <a:ext cx="274320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A896"/>
                </a:solidFill>
                <a:latin typeface="Georgia"/>
              </a:rPr>
              <a:t>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8163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Consumers discover brands on social first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69164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44584" y="1691640"/>
            <a:ext cx="274320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A896"/>
                </a:solidFill>
                <a:latin typeface="Georgia"/>
              </a:rPr>
              <a:t>$1.3T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81635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Social commerce revenue by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896"/>
                </a:solidFill>
                <a:latin typeface="Calibri"/>
              </a:rPr>
              <a:t>KEY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6227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1828"/>
                </a:solidFill>
                <a:latin typeface="Calibri"/>
              </a:rPr>
              <a:t>Brands with a consistent social media presence see 3× more inbound leads, 40% better customer retention, and significantly lower customer acquisition costs than those relying solely on paid advertising. The ROI compounds year over year.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080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Module 01: Choosing Your Platform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8B8"/>
                </a:solidFill>
                <a:latin typeface="Calibri"/>
              </a:rPr>
              <a:t>Focus beats presence. Master 2–3 platforms before expanding.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19072"/>
            <a:ext cx="118872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739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719072"/>
            <a:ext cx="109728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77393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719072"/>
            <a:ext cx="228600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7739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719072"/>
            <a:ext cx="265176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7739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Content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719072"/>
            <a:ext cx="365760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7739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Primary 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212848"/>
            <a:ext cx="118872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Instagram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2212848"/>
            <a:ext cx="109728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286000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1.4B+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212848"/>
            <a:ext cx="22860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22860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Visual brand &amp; product sales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2212848"/>
            <a:ext cx="265176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28600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Reels, Stories, Carousels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212848"/>
            <a:ext cx="36576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28600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18–34 consumers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054096"/>
            <a:ext cx="118872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2724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TikTok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3054096"/>
            <a:ext cx="109728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312724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1.1B+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054096"/>
            <a:ext cx="228600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3127248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Viral reach, Gen Z acquisition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3054096"/>
            <a:ext cx="265176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12724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Short-form video, Lives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054096"/>
            <a:ext cx="365760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312724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13–34 entertainment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895344"/>
            <a:ext cx="118872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968496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3895344"/>
            <a:ext cx="109728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3968496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950M+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3895344"/>
            <a:ext cx="22860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3968496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B2B leads &amp; thought leadership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895344"/>
            <a:ext cx="265176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396849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Articles, video, text posts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895344"/>
            <a:ext cx="36576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396849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25–55 professionals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736592"/>
            <a:ext cx="118872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809744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YouTube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1640" y="4736592"/>
            <a:ext cx="109728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83080" y="4809744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2.7B+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4736592"/>
            <a:ext cx="228600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71800" y="4809744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Long-form authority &amp; SEO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4736592"/>
            <a:ext cx="265176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49240" y="4809744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Tutorials, reviews, Shorts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736592"/>
            <a:ext cx="3657600" cy="768096"/>
          </a:xfrm>
          <a:prstGeom prst="rect">
            <a:avLst/>
          </a:prstGeom>
          <a:solidFill>
            <a:srgbClr val="0E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80974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All ages, high intent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577840"/>
            <a:ext cx="118872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650992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Pinterest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5577840"/>
            <a:ext cx="109728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83080" y="5650992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465M+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5577840"/>
            <a:ext cx="22860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71800" y="5650992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E-commerce &amp; lifestyle brands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5577840"/>
            <a:ext cx="265176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0" y="565099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Pins, Idea Pins, boards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01000" y="5577840"/>
            <a:ext cx="3657600" cy="768096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2440" y="565099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25–54, female skew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8B8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1828"/>
                </a:solidFill>
                <a:latin typeface="Georgia"/>
              </a:rPr>
              <a:t>Module 02: Your 5 Content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080"/>
                </a:solidFill>
                <a:latin typeface="Calibri"/>
              </a:rPr>
              <a:t>Every piece of content should serve one of these five strategic purposes.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221284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2212848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057400"/>
            <a:ext cx="749808" cy="74980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999232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828"/>
                </a:solidFill>
                <a:latin typeface="Georgia"/>
              </a:rPr>
              <a:t>Educate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493008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How-tos, tutorials, industry tips, explainers — builds authority and trust over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737360"/>
            <a:ext cx="221284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0632" y="1737360"/>
            <a:ext cx="2212848" cy="16459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2152" y="2057400"/>
            <a:ext cx="749808" cy="74980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05740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999232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828"/>
                </a:solidFill>
                <a:latin typeface="Georgia"/>
              </a:rPr>
              <a:t>Entertain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93008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Relatable, humorous, or emotionally resonant content — earns genuine engagement.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9784" y="1737360"/>
            <a:ext cx="221284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9784" y="1737360"/>
            <a:ext cx="2212848" cy="1645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61304" y="2057400"/>
            <a:ext cx="749808" cy="74980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205740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999232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828"/>
                </a:solidFill>
                <a:latin typeface="Georgia"/>
              </a:rPr>
              <a:t>Inspire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493008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Aspirational stories, brand vision, transformations — makes followers aspire to your world.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88936" y="1737360"/>
            <a:ext cx="221284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88936" y="1737360"/>
            <a:ext cx="2212848" cy="164592"/>
          </a:xfrm>
          <a:prstGeom prst="rect">
            <a:avLst/>
          </a:prstGeom>
          <a:solidFill>
            <a:srgbClr val="02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0456" y="2057400"/>
            <a:ext cx="749808" cy="749808"/>
          </a:xfrm>
          <a:prstGeom prst="ellipse">
            <a:avLst/>
          </a:prstGeom>
          <a:solidFill>
            <a:srgbClr val="02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205740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3" y="2999232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828"/>
                </a:solidFill>
                <a:latin typeface="Georgia"/>
              </a:rPr>
              <a:t>Promote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3" y="3493008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Product showcases, offers, testimonials — max 20% of content to avoid fatigue.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8088" y="1737360"/>
            <a:ext cx="221284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48088" y="1737360"/>
            <a:ext cx="2212848" cy="164592"/>
          </a:xfrm>
          <a:prstGeom prst="rect">
            <a:avLst/>
          </a:prstGeom>
          <a:solidFill>
            <a:srgbClr val="039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9608" y="2057400"/>
            <a:ext cx="749808" cy="749808"/>
          </a:xfrm>
          <a:prstGeom prst="ellipse">
            <a:avLst/>
          </a:prstGeom>
          <a:solidFill>
            <a:srgbClr val="039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9608" y="205740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5" y="2999232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1828"/>
                </a:solidFill>
                <a:latin typeface="Georgia"/>
              </a:rPr>
              <a:t>Engage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7815" y="3493008"/>
            <a:ext cx="19933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Polls, Q&amp;As, UGC reposts, 'comment below' — makes followers feel like participants.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Pro tip: Use a content calendar with a 3:1:1 ratio — 3 Educate/Entertain, 1 Inspire, 1 Promote.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080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Module 03: Content Formats That Perform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8B8"/>
                </a:solidFill>
                <a:latin typeface="Calibri"/>
              </a:rPr>
              <a:t>Not all content is equal. These formats consistently drive reach, engagement, and conversions.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Short-Form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Reels, TikToks, Shorts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60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3× avg engagement vs static. Hook in first 2 seconds. Use captions — 80% watch with sound 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Carousel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Instagram,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60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Highest save rate on Instagram. Teach a concept across 8–10 slides. Last slide = CTA.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20040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Long-Form Video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YouTube,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Builds deepest authority. Best for tutorials, reviews, case studies. YouTube SEO compounds.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Stories &amp; Ephemeral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Instagram, 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069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Daily touchpoint with existing audience. Polls + questions = direct market research for free.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0916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70916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Streaming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All major platforms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5577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250% higher engagement than recorded video. Host Q&amp;As, launches, or behind-the-scenes.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5577840" cy="14630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User-Generated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96"/>
                </a:solidFill>
                <a:latin typeface="Calibri"/>
              </a:rPr>
              <a:t>Repost across platforms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577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93% of consumers trust UGC over brand content. Create conditions for it, then amplify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8B8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1828"/>
                </a:solidFill>
                <a:latin typeface="Georgia"/>
              </a:rPr>
              <a:t>Module 04: Scheduling &amp; Optimal Posting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080"/>
                </a:solidFill>
                <a:latin typeface="Calibri"/>
              </a:rPr>
              <a:t>Consistency beats frequency. Show up reliably rather than posting in bursts.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150876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46504"/>
            <a:ext cx="14173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691640"/>
            <a:ext cx="411480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7465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Recommended Frequency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303520" cy="411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7465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Best Posting Times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76272"/>
            <a:ext cx="150876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176272"/>
            <a:ext cx="201168" cy="7680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8600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Instagram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176272"/>
            <a:ext cx="411480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28600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3–5×/week feed; 5–7×/week Reels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76272"/>
            <a:ext cx="530352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28600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Tue–Fri 9–11am &amp; 7–9pm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17520"/>
            <a:ext cx="15087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017520"/>
            <a:ext cx="201168" cy="76809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12724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TikTok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017520"/>
            <a:ext cx="41148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21408" y="312724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1–4×/day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035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1272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Tue, Thu, Fri 7–9am &amp; 7–11pm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58768"/>
            <a:ext cx="150876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858768"/>
            <a:ext cx="201168" cy="768096"/>
          </a:xfrm>
          <a:prstGeom prst="rect">
            <a:avLst/>
          </a:prstGeom>
          <a:solidFill>
            <a:srgbClr val="02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6849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LinkedIn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3858768"/>
            <a:ext cx="411480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1408" y="396849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3–5×/week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58768"/>
            <a:ext cx="530352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396849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Tue–Thu 8–10am &amp; 12pm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00016"/>
            <a:ext cx="150876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700016"/>
            <a:ext cx="201168" cy="76809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80974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YouTube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4700016"/>
            <a:ext cx="41148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21408" y="480974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1–2×/week (quality over quantity)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700016"/>
            <a:ext cx="530352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80974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Thu–Sat 2–4pm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541264"/>
            <a:ext cx="150876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541264"/>
            <a:ext cx="201168" cy="768096"/>
          </a:xfrm>
          <a:prstGeom prst="rect">
            <a:avLst/>
          </a:prstGeom>
          <a:solidFill>
            <a:srgbClr val="BD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65099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Pinterest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5541264"/>
            <a:ext cx="411480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21408" y="565099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15–25 pins/day (use scheduler)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541264"/>
            <a:ext cx="5303520" cy="768096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565099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Sat–Sun 8–11pm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Note: Best times vary by audience. Use platform analytics to find YOUR audience's peak hours.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080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Module 05: Analytics — What to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8B8"/>
                </a:solidFill>
                <a:latin typeface="Calibri"/>
              </a:rPr>
              <a:t>Stop counting likes. Track the metrics that connect to actual business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20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Unique accounts who saw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Tracks brand awareness growth over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20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Engagement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Interactions ÷ Reach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Benchmark: 1–3% avg; 5%+ = excellent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20040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Save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Saves ÷ Reach ×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160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Instagram algorithm heavily rewards saves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Click-Through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Link clicks ÷ Impressions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1605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Key conversion metric; avg 0.5–1% for social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0916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70916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937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Follower Growth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Net new ÷ total × 100 per 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5669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Healthy growth: 1–3% weekly from organic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3716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5577840" cy="14630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937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libri"/>
              </a:rPr>
              <a:t>Conversion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Actions taken ÷ visitors from social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669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8B8"/>
                </a:solidFill>
                <a:latin typeface="Calibri"/>
              </a:rPr>
              <a:t>Tracks social ROI through to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8B8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51828"/>
                </a:solidFill>
                <a:latin typeface="Georgia"/>
              </a:rPr>
              <a:t>Module 06: Paid Social — Running Ads That Convert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080"/>
                </a:solidFill>
                <a:latin typeface="Calibri"/>
              </a:rPr>
              <a:t>Organic gets you visible. Paid gets you scalable. The combination is unstoppable.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5486400" cy="4572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AD FUNNEL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4572000" cy="8046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591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AWARENESS — 20%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066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Cold audiences. Objectives: Reach, Video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246120"/>
            <a:ext cx="4069080" cy="804672"/>
          </a:xfrm>
          <a:prstGeom prst="rect">
            <a:avLst/>
          </a:prstGeom>
          <a:solidFill>
            <a:srgbClr val="057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3319272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CONSIDERATION — 30%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666744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Warm audiences. Objectives: Traffic, 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6" y="4206240"/>
            <a:ext cx="3566160" cy="804672"/>
          </a:xfrm>
          <a:prstGeom prst="rect">
            <a:avLst/>
          </a:prstGeom>
          <a:solidFill>
            <a:srgbClr val="048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427939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CONVERSION — 40%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26864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Hot retargeting. Objectives: Purchases, Leads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9304" y="5166360"/>
            <a:ext cx="3063239" cy="804672"/>
          </a:xfrm>
          <a:prstGeom prst="rect">
            <a:avLst/>
          </a:prstGeom>
          <a:solidFill>
            <a:srgbClr val="03A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5239512"/>
            <a:ext cx="2880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RETENTION — 10%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586984"/>
            <a:ext cx="2880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EEFF"/>
                </a:solidFill>
                <a:latin typeface="Calibri"/>
              </a:rPr>
              <a:t>Existing customers. Objectives: Upsell, LTV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691640"/>
            <a:ext cx="5623560" cy="777240"/>
          </a:xfrm>
          <a:prstGeom prst="rect">
            <a:avLst/>
          </a:prstGeom>
          <a:solidFill>
            <a:srgbClr val="E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691640"/>
            <a:ext cx="20116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105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Targeting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67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Layer demographics + interests + behaviours. Always exclude recent purchasers.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587752"/>
            <a:ext cx="5623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587752"/>
            <a:ext cx="20116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066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Creative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63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Test 3–5 creatives per ad set. Video outperforms static 3× on most platforms.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483864"/>
            <a:ext cx="5623560" cy="777240"/>
          </a:xfrm>
          <a:prstGeom prst="rect">
            <a:avLst/>
          </a:prstGeom>
          <a:solidFill>
            <a:srgbClr val="E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483864"/>
            <a:ext cx="20116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027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59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Start at $5–10/day per ad set. Scale winners 20% every 2–3 days, not all at once.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379976"/>
            <a:ext cx="56235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379976"/>
            <a:ext cx="20116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98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Retargeting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554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Website visitors, video viewers, and email list custom audiences convert 5× better.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276088"/>
            <a:ext cx="5623560" cy="777240"/>
          </a:xfrm>
          <a:prstGeom prst="rect">
            <a:avLst/>
          </a:prstGeom>
          <a:solidFill>
            <a:srgbClr val="E5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5276088"/>
            <a:ext cx="20116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3949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1828"/>
                </a:solidFill>
                <a:latin typeface="Calibri"/>
              </a:rPr>
              <a:t>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751575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080"/>
                </a:solidFill>
                <a:latin typeface="Calibri"/>
              </a:rPr>
              <a:t>Use 7-day click + 1-day view window. Verify with platform-native analytics.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080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Module 07: Community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8B8"/>
                </a:solidFill>
                <a:latin typeface="Calibri"/>
              </a:rPr>
              <a:t>Followers are an audience. Community is an asset. This is the difference.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828800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288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7556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Reply Within 2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810512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Response speed is the #1 predictor of community satisfaction. Set up notifications and templates.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04288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" y="2523744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5237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50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Create a Branded Hashtag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05456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Make it unique, memorable, and campaign it relentlessly. Repost every use of it publicly.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99232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048" y="3218688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2186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1455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Host Weekly Lives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00400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Regular live sessions build habit. Q&amp;As, behind-the-scenes, and collabs drive anticipation.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94176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3913631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13631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404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DM New Followers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895344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A personalised welcome message converts followers to fans — automate with a human touch.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389120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608575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608575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535423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Acknowledge UGC 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590288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Like, comment, and reshare user content within hours. It signals to others to create more.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084064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5303519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30351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523036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Poll &amp; Ask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285231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Every Story poll or question box is free market research. Use insights to shape your next content.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779007"/>
            <a:ext cx="109728" cy="201168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048" y="5998464"/>
            <a:ext cx="475488" cy="47548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9984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925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Celebrate Milestones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5980176"/>
            <a:ext cx="7040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8B8"/>
                </a:solidFill>
                <a:latin typeface="Calibri"/>
              </a:rPr>
              <a:t>Follower counts, anniversaries, product launches — make community part of every celebration.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8B8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51828"/>
                </a:solidFill>
                <a:latin typeface="Georgia"/>
              </a:rPr>
              <a:t>Module 08: Influencer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7080"/>
                </a:solidFill>
                <a:latin typeface="Calibri"/>
              </a:rPr>
              <a:t>Influencer marketing delivers 11× the ROI of traditional digital advertising when done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080"/>
                </a:solidFill>
                <a:latin typeface="Calibri"/>
              </a:rPr>
              <a:t>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642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080"/>
                </a:solidFill>
                <a:latin typeface="Calibri"/>
              </a:rP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642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080"/>
                </a:solidFill>
                <a:latin typeface="Calibri"/>
              </a:rPr>
              <a:t>AVG ENG.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6642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7080"/>
                </a:solidFill>
                <a:latin typeface="Calibri"/>
              </a:rPr>
              <a:t>BEST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93392"/>
            <a:ext cx="11338560" cy="36576"/>
          </a:xfrm>
          <a:prstGeom prst="rect">
            <a:avLst/>
          </a:prstGeom>
          <a:solidFill>
            <a:srgbClr val="CC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84831"/>
            <a:ext cx="11338560" cy="841248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084831"/>
            <a:ext cx="201168" cy="8412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7627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828"/>
                </a:solidFill>
                <a:latin typeface="Calibri"/>
              </a:rPr>
              <a:t>Nano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76272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libri"/>
              </a:rPr>
              <a:t>1K–10K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76272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080"/>
                </a:solidFill>
                <a:latin typeface="Calibri"/>
              </a:rPr>
              <a:t>3–6%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76272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Highest trust &amp; engagement. Niche, authentic, affordable. Perfect for testing and local campaigns.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17520"/>
            <a:ext cx="113385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17520"/>
            <a:ext cx="201168" cy="8412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0896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828"/>
                </a:solidFill>
                <a:latin typeface="Calibri"/>
              </a:rPr>
              <a:t>Micro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10896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  <a:latin typeface="Calibri"/>
              </a:rPr>
              <a:t>10K–100K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10896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080"/>
                </a:solidFill>
                <a:latin typeface="Calibri"/>
              </a:rPr>
              <a:t>2–4%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08960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Best ROI tier. Engaged niche community, authentic voice, measurable results at reasonable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50208"/>
            <a:ext cx="11338560" cy="841248"/>
          </a:xfrm>
          <a:prstGeom prst="rect">
            <a:avLst/>
          </a:prstGeom>
          <a:solidFill>
            <a:srgbClr val="E5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950208"/>
            <a:ext cx="201168" cy="8412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04164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828"/>
                </a:solidFill>
                <a:latin typeface="Calibri"/>
              </a:rPr>
              <a:t>Macro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41648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100K–1M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041648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080"/>
                </a:solidFill>
                <a:latin typeface="Calibri"/>
              </a:rPr>
              <a:t>1–3%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41648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Broad reach for awareness. Requires careful brand alignment. Negotiate exclusivity clauses.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82896"/>
            <a:ext cx="113385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882896"/>
            <a:ext cx="201168" cy="841248"/>
          </a:xfrm>
          <a:prstGeom prst="rect">
            <a:avLst/>
          </a:prstGeom>
          <a:solidFill>
            <a:srgbClr val="55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97433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1828"/>
                </a:solidFill>
                <a:latin typeface="Calibri"/>
              </a:rPr>
              <a:t>Mega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974336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7080"/>
                </a:solidFill>
                <a:latin typeface="Calibri"/>
              </a:rPr>
              <a:t>1M+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974336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7080"/>
                </a:solidFill>
                <a:latin typeface="Calibri"/>
              </a:rPr>
              <a:t>0.5–1.5%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74336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7080"/>
                </a:solidFill>
                <a:latin typeface="Calibri"/>
              </a:rPr>
              <a:t>Mass reach for major launches. Very expensive — requires strong brief, clear KPIs, legal contracts.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08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 30-Day Social Media Kickstart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8B8"/>
                </a:solidFill>
                <a:latin typeface="Calibri"/>
              </a:rPr>
              <a:t>From zero to consistent, high-performing social presence in 30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20574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57784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47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86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7157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67919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Audit &amp; optimise all profile bios and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9718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352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Define your 5 content pillars and brand voice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2278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1912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Set up a scheduling tool (Buffer, Later, or Hootsuite)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34838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447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Batch-create 2 weeks of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577840" cy="20574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57784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947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286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271576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67919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Start posting on consistent schedule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297180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9352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Engage every comment and DM within 2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322783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19125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Launch first Story poll or Q&amp;A for audience research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348386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344728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Identify 5 potential nano-influencers in your niche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31920"/>
            <a:ext cx="5577840" cy="20574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557784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Week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526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AMPLIFY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" y="49560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49194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Launch first paid boost on top-performing post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521208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17550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Reach out to 3 micro-influencers for collaboration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" y="54681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43153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Create first UGC campaign with branded hashtag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572414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68756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Post your first Live or video Q&amp;A session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931920"/>
            <a:ext cx="5577840" cy="2057400"/>
          </a:xfrm>
          <a:prstGeom prst="rect">
            <a:avLst/>
          </a:prstGeom>
          <a:solidFill>
            <a:srgbClr val="0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577840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96"/>
                </a:solidFill>
                <a:latin typeface="Calibri"/>
              </a:rPr>
              <a:t>Week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526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OPTIMISE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956048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3408" y="49194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Pull analytics — identify top 3 posts by reach &amp; saves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212080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8" y="517550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Double content type that performed best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68112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3408" y="543153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Cut format that underperformed — don't persist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724144"/>
            <a:ext cx="109728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93408" y="568756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A8B8"/>
                </a:solidFill>
                <a:latin typeface="Calibri"/>
              </a:rPr>
              <a:t>Plan month 2 with documented content calendar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8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822960"/>
            <a:ext cx="9445752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822960"/>
            <a:ext cx="9445752" cy="201168"/>
          </a:xfrm>
          <a:prstGeom prst="rect">
            <a:avLst/>
          </a:prstGeom>
          <a:solidFill>
            <a:srgbClr val="05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51828"/>
                </a:solidFill>
                <a:latin typeface="Calibri"/>
              </a:rPr>
              <a:t>MODULE 08  ·  GROWTH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9445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51828"/>
                </a:solidFill>
                <a:latin typeface="Georgia"/>
              </a:rPr>
              <a:t>Ready to Grow?
Let's Talk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7080"/>
                </a:solidFill>
                <a:latin typeface="Calibri"/>
              </a:rPr>
              <a:t>I help brands build social media systems that generate consistent leads, not just likes.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41605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7080"/>
                </a:solidFill>
                <a:latin typeface="Calibri"/>
              </a:rPr>
              <a:t>Week 1 Strategy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7080"/>
                </a:solidFill>
                <a:latin typeface="Calibri"/>
              </a:rPr>
              <a:t>Week 2 Content system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41605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7080"/>
                </a:solidFill>
                <a:latin typeface="Calibri"/>
              </a:rPr>
              <a:t>Week 3 Ads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0" y="416052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754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57080"/>
                </a:solidFill>
                <a:latin typeface="Calibri"/>
              </a:rPr>
              <a:t>Week 4 Optimise &amp;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5349240"/>
            <a:ext cx="4114800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4589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bidikelvin282@gmail.com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12 / 12  ·  Social Media Masterclass  ·  Kelvin Tony Bidi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