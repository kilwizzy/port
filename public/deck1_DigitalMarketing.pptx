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828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>
                <a:solidFill>
                  <a:srgbClr val="1A2D42"/>
                </a:solidFill>
                <a:latin typeface="Georgia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DIGITAL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Georgia"/>
              </a:rP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2B5BE0"/>
                </a:solidFill>
                <a:latin typeface="Georgia"/>
              </a:rPr>
              <a:t>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84448"/>
            <a:ext cx="3657600" cy="54864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7799"/>
                </a:solidFill>
                <a:latin typeface="Calibri"/>
              </a:rPr>
              <a:t>Strategies, Platforms &amp; Predictions Shaping the Next Era of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Kelvin Tony Bidi  ·  Full Stack Developer &amp; Virtual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6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9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1200"/>
                      </p:stCondLst>
                      <p:childTnLst>
                        <p:par>
                          <p:cTn id="2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1500"/>
                      </p:stCondLst>
                      <p:childTnLst>
                        <p:par>
                          <p:cTn id="30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7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THE DIGITAL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923"/>
                </a:solidFill>
                <a:latin typeface="Georgia"/>
              </a:rPr>
              <a:t>Marketing in 2025: 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2743200" cy="164592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B5BE0"/>
                </a:solidFill>
                <a:latin typeface="Georgia"/>
              </a:rPr>
              <a:t>5.4B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Internet users worldwide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600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600200"/>
            <a:ext cx="2743200" cy="164592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8745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B5BE0"/>
                </a:solidFill>
                <a:latin typeface="Georgia"/>
              </a:rPr>
              <a:t>4.9B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Active social media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600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600200"/>
            <a:ext cx="2743200" cy="164592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8745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B5BE0"/>
                </a:solidFill>
                <a:latin typeface="Georgia"/>
              </a:rP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Purchases influenced by social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600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1600200"/>
            <a:ext cx="2743200" cy="164592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874519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B5BE0"/>
                </a:solidFill>
                <a:latin typeface="Georgia"/>
              </a:rPr>
              <a:t>$870B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Global digital ad spend projected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5BE0"/>
                </a:solidFill>
                <a:latin typeface="Calibri"/>
              </a:rPr>
              <a:t>KEY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731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Calibri"/>
              </a:rPr>
              <a:t>Brands that invest in omnichannel digital strategies achieve 3× higher customer retention and 2.5× revenue growth compared to single-channel approaches. The window to adapt is narrowing.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4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8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A2D42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TREND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Short-Form Video
Dominance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5943600" cy="4572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1635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80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More engagement than static image posts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30168"/>
            <a:ext cx="502920" cy="50292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5759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72160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Of marketers say video gives best ROI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71416"/>
            <a:ext cx="502920" cy="50292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56285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Ideal Reels/TikTok length for max watch time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312664"/>
            <a:ext cx="502920" cy="50292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00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4041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Monthly active users on YouTube Shorts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4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BBCCEE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TREND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923"/>
                </a:solidFill>
                <a:latin typeface="Georgia"/>
              </a:rPr>
              <a:t>AI-Powered Personalisation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7799"/>
                </a:solidFill>
                <a:latin typeface="Calibri"/>
              </a:rPr>
              <a:t>Consumers now expect experiences tailored to their exact behaviour, preferences, and intent. AI makes this scalable.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77440"/>
            <a:ext cx="11338560" cy="6858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377440"/>
            <a:ext cx="201168" cy="6858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054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Predictive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0545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AI analyses past behaviour to serve content before users know they want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54680"/>
            <a:ext cx="11338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154680"/>
            <a:ext cx="201168" cy="6858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826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Dynamic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8269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Real-time price adjustments based on demand, competition, and user profile.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31920"/>
            <a:ext cx="11338560" cy="6858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201168" cy="6858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59935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Smart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59935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Micro-segmentation beyond demographics — into intent signals and real-time context.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09160"/>
            <a:ext cx="11338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709160"/>
            <a:ext cx="201168" cy="6858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371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Automated A/B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3717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AI tests hundreds of variants simultaneously, auto-routing traffic to winners.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486400"/>
            <a:ext cx="11338560" cy="6858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486400"/>
            <a:ext cx="201168" cy="6858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144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Conversational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61441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99"/>
                </a:solidFill>
                <a:latin typeface="Calibri"/>
              </a:rPr>
              <a:t>Chatbots that resolve 80% of queries, freeing teams for high-value interactions.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4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8" y="0"/>
            <a:ext cx="6089904" cy="6858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TREND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Social Commerce:
Buy Without Leaving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108960"/>
            <a:ext cx="5029200" cy="4572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Social platforms are no longer just discovery engines — they are fully integrated storefronts. Instagram Checkout, TikTok Shop, and Pinterest Shopping have collapsed the funnel from awareness to purchase into a single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640080"/>
            <a:ext cx="5303520" cy="16002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640080"/>
            <a:ext cx="5303520" cy="13716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868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B5BE0"/>
                </a:solidFill>
                <a:latin typeface="Georgia"/>
              </a:rPr>
              <a:t>$1.3T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Social commerce GMV by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5303520" cy="16002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5303520" cy="13716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B5BE0"/>
                </a:solidFill>
                <a:latin typeface="Georgia"/>
              </a:rP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Of Gen Z prefer buying on social vs websites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5303520" cy="160020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303520" cy="13716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B5BE0"/>
                </a:solidFill>
                <a:latin typeface="Georgia"/>
              </a:rPr>
              <a:t>Live Shopping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440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250% YoY growth in live-stream purchases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TREND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923"/>
                </a:solidFill>
                <a:latin typeface="Georgia"/>
              </a:rPr>
              <a:t>The Creator Economy &amp; Influencer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7799"/>
                </a:solidFill>
                <a:latin typeface="Calibri"/>
              </a:rPr>
              <a:t>Micro and nano-influencers outperform mega-celebrities on engagement. Brands investing here see 11× the ROI of traditional digital advertising.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7744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377440"/>
            <a:ext cx="2743200" cy="164592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697480"/>
            <a:ext cx="731520" cy="73152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Georgia"/>
              </a:rPr>
              <a:t>Nano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5BE0"/>
                </a:solidFill>
                <a:latin typeface="Calibri"/>
              </a:rPr>
              <a:t>1K–10K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Highest trust, niche audiences, affordable entry point for any budget.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237744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2377440"/>
            <a:ext cx="2743200" cy="164592"/>
          </a:xfrm>
          <a:prstGeom prst="rect">
            <a:avLst/>
          </a:prstGeom>
          <a:solidFill>
            <a:srgbClr val="6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61688" y="2697480"/>
            <a:ext cx="731520" cy="731520"/>
          </a:xfrm>
          <a:prstGeom prst="ellipse">
            <a:avLst/>
          </a:prstGeom>
          <a:solidFill>
            <a:srgbClr val="6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697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Georgia"/>
              </a:rPr>
              <a:t>Micro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9BFF"/>
                </a:solidFill>
                <a:latin typeface="Calibri"/>
              </a:rPr>
              <a:t>10K–100K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4074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Best ROI tier — specific communities, authentic voices, measurable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237744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2377440"/>
            <a:ext cx="2743200" cy="164592"/>
          </a:xfrm>
          <a:prstGeom prst="rect">
            <a:avLst/>
          </a:prstGeom>
          <a:solidFill>
            <a:srgbClr val="6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6056" y="2697480"/>
            <a:ext cx="731520" cy="731520"/>
          </a:xfrm>
          <a:prstGeom prst="ellipse">
            <a:avLst/>
          </a:prstGeom>
          <a:solidFill>
            <a:srgbClr val="66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6056" y="2697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Georgia"/>
              </a:rPr>
              <a:t>Macro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7799"/>
                </a:solidFill>
                <a:latin typeface="Calibri"/>
              </a:rPr>
              <a:t>100K–1M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074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Broader reach for awareness campaigns, requires careful brand alignment.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237744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44584" y="2377440"/>
            <a:ext cx="2743200" cy="164592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50424" y="2697480"/>
            <a:ext cx="731520" cy="731520"/>
          </a:xfrm>
          <a:prstGeom prst="ellipse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0424" y="2697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611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Georgia"/>
              </a:rPr>
              <a:t>Mega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CCEE"/>
                </a:solidFill>
                <a:latin typeface="Calibri"/>
              </a:rPr>
              <a:t>1M+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4407408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Mass brand awareness — reserve for major launches with large budgets.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BE0"/>
                </a:solidFill>
                <a:latin typeface="Calibri"/>
              </a:rPr>
              <a:t>TREND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Search Is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  <a:latin typeface="Calibri"/>
              </a:rPr>
              <a:t>Traditional Google SEO is now just one signal. TikTok, YouTube, Pinterest, and AI chatbots are all search engines in 2025.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51460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651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358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Still #1 — but AI Overviews are reshinking CTR for organic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1460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51460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6517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TikTok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0358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40% of Gen Z start product searches on TikTok before 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4048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84048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77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YouTube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6168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Second largest search engine; how-to content drives huge intent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977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Pinterest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36168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High purchase intent: 80% of weekly users discover new brands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16636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16636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3035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ChatGPT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68756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AI-native search — brands need to appear in LLM training &amp; citations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166360"/>
            <a:ext cx="5577840" cy="11430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5166360"/>
            <a:ext cx="201168" cy="1143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53035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68756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Google now surfaces Reddit threads prominently — community SEO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923"/>
                </a:solidFill>
                <a:latin typeface="Georgia"/>
              </a:rPr>
              <a:t>Platform Selection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7799"/>
                </a:solidFill>
                <a:latin typeface="Calibri"/>
              </a:rPr>
              <a:t>Match platform to your audience, content type, and business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00200"/>
            <a:ext cx="1325880" cy="457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00200"/>
            <a:ext cx="2103120" cy="457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642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00200"/>
            <a:ext cx="2377440" cy="457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64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Content 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2286000" cy="457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Posting Frequency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600200"/>
            <a:ext cx="2926080" cy="457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16642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48840"/>
            <a:ext cx="13258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Instagram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148840"/>
            <a:ext cx="210312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21284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Brand awareness, product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148840"/>
            <a:ext cx="237744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21284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Reels, Stories, Carousels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48840"/>
            <a:ext cx="228600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21284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5–7×/week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148840"/>
            <a:ext cx="29260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19" y="221284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18–34, visual-first consumers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71800"/>
            <a:ext cx="1325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03580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TikTok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971800"/>
            <a:ext cx="2103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03580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Viral reach, Gen Z acquisition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971800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03580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Short videos, Duets, Lives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971800"/>
            <a:ext cx="2286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303580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1–4×/day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971800"/>
            <a:ext cx="2926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303580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13–34, entertainment-first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94760"/>
            <a:ext cx="13258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5876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3794760"/>
            <a:ext cx="210312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85876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B2B leads, thought leadership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794760"/>
            <a:ext cx="237744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85876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Articles, text posts, video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794760"/>
            <a:ext cx="228600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79" y="385876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3–5×/week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794760"/>
            <a:ext cx="29260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38587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25–55, professionals &amp; decision-makers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617720"/>
            <a:ext cx="1325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68172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YouTube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4617720"/>
            <a:ext cx="2103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468172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Long-form authority, SEO discovery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4617720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468172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Tutorials, reviews, Shorts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617720"/>
            <a:ext cx="2286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79" y="468172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1–2×/week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4617720"/>
            <a:ext cx="2926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19" y="468172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All ages, high purchase intent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440680"/>
            <a:ext cx="13258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5046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923"/>
                </a:solidFill>
                <a:latin typeface="Calibri"/>
              </a:rPr>
              <a:t>Pinterest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5440680"/>
            <a:ext cx="210312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0240" y="5504688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E-commerce, lifestyle discovery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5440680"/>
            <a:ext cx="237744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5504688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Pins, Idea Pins, boards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5440680"/>
            <a:ext cx="228600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79" y="550468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10–20×/day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5440680"/>
            <a:ext cx="2926080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19" y="55046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25–54, high-income, female skew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 5 Content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  <a:latin typeface="Calibri"/>
              </a:rPr>
              <a:t>Every high-performing content strategy is built on these five foundations.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719072"/>
            <a:ext cx="566928" cy="566928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71907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892808"/>
            <a:ext cx="10515600" cy="274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6824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BE0"/>
                </a:solidFill>
                <a:latin typeface="Calibri"/>
              </a:rPr>
              <a:t>Educate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How-tos, tutorials, and guides that position you as the authority in your niche.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2651760"/>
            <a:ext cx="566928" cy="566928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65176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2825496"/>
            <a:ext cx="10515600" cy="274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615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BE0"/>
                </a:solidFill>
                <a:latin typeface="Calibri"/>
              </a:rPr>
              <a:t>Entertain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Relatable, humorous, or emotionally resonant content that earns genuine engagement.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3584448"/>
            <a:ext cx="566928" cy="566928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58444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" y="3758184"/>
            <a:ext cx="10515600" cy="274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547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BE0"/>
                </a:solidFill>
                <a:latin typeface="Calibri"/>
              </a:rPr>
              <a:t>Inspire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844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Aspirational stories, transformations, and brand vision that move your audience.</a:t>
            </a:r>
          </a:p>
        </p:txBody>
      </p:sp>
      <p:sp>
        <p:nvSpPr>
          <p:cNvPr id="20" name="Oval 19"/>
          <p:cNvSpPr/>
          <p:nvPr/>
        </p:nvSpPr>
        <p:spPr>
          <a:xfrm>
            <a:off x="384048" y="4517136"/>
            <a:ext cx="566928" cy="566928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51713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8" y="4690872"/>
            <a:ext cx="10515600" cy="274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4805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BE0"/>
                </a:solidFill>
                <a:latin typeface="Calibri"/>
              </a:rPr>
              <a:t>Promote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1713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Offers and product content — but capped at 20% to avoid audience fatigue.</a:t>
            </a:r>
          </a:p>
        </p:txBody>
      </p:sp>
      <p:sp>
        <p:nvSpPr>
          <p:cNvPr id="25" name="Oval 24"/>
          <p:cNvSpPr/>
          <p:nvPr/>
        </p:nvSpPr>
        <p:spPr>
          <a:xfrm>
            <a:off x="384048" y="5449824"/>
            <a:ext cx="566928" cy="566928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44982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5568" y="5623560"/>
            <a:ext cx="10515600" cy="274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4132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BE0"/>
                </a:solidFill>
                <a:latin typeface="Calibri"/>
              </a:rPr>
              <a:t>Engage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4982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  <a:latin typeface="Calibri"/>
              </a:rPr>
              <a:t>Polls, Q&amp;As, UGC reposts, and interactive formats that make followers co-creators.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923"/>
                </a:solidFill>
                <a:latin typeface="Georgia"/>
              </a:rPr>
              <a:t>Email &amp; Automation: The Highest-ROI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7799"/>
                </a:solidFill>
                <a:latin typeface="Calibri"/>
              </a:rPr>
              <a:t>While social platforms evolve, email consistently returns $36–$42 for every $1 spent — no algorithm can take that away.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5303520" cy="27432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Georgia"/>
              </a:rPr>
              <a:t>$42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CCFF"/>
                </a:solidFill>
                <a:latin typeface="Calibri"/>
              </a:rPr>
              <a:t>Average ROI per $1 spent
on email marketing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874519"/>
            <a:ext cx="571500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874519"/>
            <a:ext cx="164592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Welcome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5-email onboarding series — nurture trust in the first 2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624327"/>
            <a:ext cx="5715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624327"/>
            <a:ext cx="164592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15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Abandoned 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358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3-touch recovery sequence — recovers 10–15% of lost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374135"/>
            <a:ext cx="571500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374135"/>
            <a:ext cx="164592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46557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Re-engagement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85615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Win-back flow for inactive subscribers before you prune the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123944"/>
            <a:ext cx="5715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4123944"/>
            <a:ext cx="164592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153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Post-Purchase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3542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Upsell, review request, and loyalty reward within 7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873752"/>
            <a:ext cx="571500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4873752"/>
            <a:ext cx="164592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9651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923"/>
                </a:solidFill>
                <a:latin typeface="Calibri"/>
              </a:rPr>
              <a:t>Weekly Newsletter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2852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Value-first content that keeps your brand top of mind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Your 90-Day Digital Marketing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  <a:latin typeface="Calibri"/>
              </a:rPr>
              <a:t>From strategy to execution — a structured roadmap to implement these trends.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874519"/>
            <a:ext cx="640080" cy="64008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128016" cy="868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5BE0"/>
                </a:solidFill>
                <a:latin typeface="Calibri"/>
              </a:rPr>
              <a:t>Days 1–30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74519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8288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Audit all active channels and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19456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1488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Define your ICP and brand voice guidelines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51460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4688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Set 3 primary KPIs with baseline measurements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834639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Choose 2–3 platforms to focus on first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3337560"/>
            <a:ext cx="640080" cy="64008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37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128016" cy="868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291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5BE0"/>
                </a:solidFill>
                <a:latin typeface="Calibri"/>
              </a:rPr>
              <a:t>Days 31–60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33756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2918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Launch short-form video strategy (2–3/week)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65760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6118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Set up email automation sequences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977639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931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Begin influencer outreach in your niche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4297679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2519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A/B test ad creatives and landing pages</a:t>
            </a:r>
          </a:p>
        </p:txBody>
      </p:sp>
      <p:sp>
        <p:nvSpPr>
          <p:cNvPr id="31" name="Oval 30"/>
          <p:cNvSpPr/>
          <p:nvPr/>
        </p:nvSpPr>
        <p:spPr>
          <a:xfrm>
            <a:off x="384048" y="4800600"/>
            <a:ext cx="640080" cy="640080"/>
          </a:xfrm>
          <a:prstGeom prst="ellipse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800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5BE0"/>
                </a:solidFill>
                <a:latin typeface="Calibri"/>
              </a:rPr>
              <a:t>Days 61–90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OPTIMISATION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80060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7548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Analyse data — double down on top performers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512064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50749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Cut underperforming channels and formats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544068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53949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Introduce social commerce if applicable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5760720"/>
            <a:ext cx="128016" cy="128016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57150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Calibri"/>
              </a:rPr>
              <a:t>Document learnings and plan next quarter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799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48556" y="1097280"/>
            <a:ext cx="3291840" cy="3291840"/>
          </a:xfrm>
          <a:prstGeom prst="ellipse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14316" y="1463040"/>
            <a:ext cx="2560320" cy="2560320"/>
          </a:xfrm>
          <a:prstGeom prst="ellipse">
            <a:avLst/>
          </a:prstGeom>
          <a:solidFill>
            <a:srgbClr val="1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80076" y="1828800"/>
            <a:ext cx="1828800" cy="1828800"/>
          </a:xfrm>
          <a:prstGeom prst="ellipse">
            <a:avLst/>
          </a:prstGeom>
          <a:solidFill>
            <a:srgbClr val="2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7799"/>
                </a:solidFill>
                <a:latin typeface="Calibri"/>
              </a:rPr>
              <a:t>READY TO DOMINATE?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Let's Build Your
Digital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CCEE"/>
                </a:solidFill>
                <a:latin typeface="Calibri"/>
              </a:rPr>
              <a:t>Book a free consultation — I'll audit your current strategy and map your next 90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297680"/>
            <a:ext cx="3977639" cy="658368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407408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GET STARTED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CCEE"/>
                </a:solidFill>
                <a:latin typeface="Calibri"/>
              </a:rPr>
              <a:t>bidikelvin282@gmail.com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7799"/>
                </a:solidFill>
                <a:latin typeface="Calibri"/>
              </a:rPr>
              <a:t>github.com/Codex723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799"/>
                </a:solidFill>
                <a:latin typeface="Calibri"/>
              </a:rPr>
              <a:t>12 / 12  ·  Digital Marketing Trends 2025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6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0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